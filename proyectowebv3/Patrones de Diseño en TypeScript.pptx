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Patrones de Diseño en TypeScript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Introducción</a:t>
            </a:r>
          </a:p>
        </p:txBody>
      </p:sp>
      <p:sp>
        <p:nvSpPr>
          <p:cNvPr id="3" name="Content Placeholder 2"/>
          <p:cNvSpPr>
            <a:spLocks noGrp="1"/>
          </p:cNvSpPr>
          <p:nvPr>
            <p:ph idx="1"/>
          </p:nvPr>
        </p:nvSpPr>
        <p:spPr/>
        <p:txBody>
          <a:bodyPr/>
          <a:lstStyle/>
          <a:p>
            <a:pPr lvl="0" indent="0" marL="0">
              <a:buNone/>
            </a:pPr>
            <a:r>
              <a:rPr/>
              <a:t>Los patrones de diseño son soluciones típicas a problemas comunes en el diseño de software. En TypeScript, estos patrones ayudan a escribir código más limpio, mantenible y reutilizable.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Categorías de Patrones de Diseño</a:t>
            </a:r>
          </a:p>
        </p:txBody>
      </p:sp>
      <p:sp>
        <p:nvSpPr>
          <p:cNvPr id="3" name="Content Placeholder 2"/>
          <p:cNvSpPr>
            <a:spLocks noGrp="1"/>
          </p:cNvSpPr>
          <p:nvPr>
            <p:ph idx="1"/>
          </p:nvPr>
        </p:nvSpPr>
        <p:spPr/>
        <p:txBody>
          <a:bodyPr/>
          <a:lstStyle/>
          <a:p>
            <a:pPr lvl="0" indent="0" marL="0">
              <a:buNone/>
            </a:pPr>
            <a:r>
              <a:rPr/>
              <a:t>Los patrones de diseño se pueden categorizar según el tipo de problema que abordan en tres grandes grupos:</a:t>
            </a:r>
          </a:p>
          <a:p>
            <a:pPr lvl="0" indent="-342900" marL="342900">
              <a:buAutoNum type="arabicPeriod"/>
            </a:pPr>
            <a:r>
              <a:rPr b="1"/>
              <a:t>Patrones Creacionales</a:t>
            </a:r>
          </a:p>
          <a:p>
            <a:pPr lvl="0" indent="-342900" marL="342900">
              <a:buAutoNum type="arabicPeriod"/>
            </a:pPr>
            <a:r>
              <a:rPr b="1"/>
              <a:t>Patrones Estructurales</a:t>
            </a:r>
          </a:p>
          <a:p>
            <a:pPr lvl="0" indent="-342900" marL="342900">
              <a:buAutoNum type="arabicPeriod"/>
            </a:pPr>
            <a:r>
              <a:rPr b="1"/>
              <a:t>Patrones de Comportamiento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Patrones Creacionales</a:t>
            </a:r>
          </a:p>
        </p:txBody>
      </p:sp>
      <p:sp>
        <p:nvSpPr>
          <p:cNvPr id="3" name="Content Placeholder 2"/>
          <p:cNvSpPr>
            <a:spLocks noGrp="1"/>
          </p:cNvSpPr>
          <p:nvPr>
            <p:ph idx="1"/>
          </p:nvPr>
        </p:nvSpPr>
        <p:spPr/>
        <p:txBody>
          <a:bodyPr/>
          <a:lstStyle/>
          <a:p>
            <a:pPr lvl="0" indent="0" marL="0">
              <a:buNone/>
            </a:pPr>
            <a:r>
              <a:rPr/>
              <a:t>Los patrones creacionales se centran en la creación de objetos. Proporcionan mecanismos para crear objetos de manera que aumenten la flexibilidad y la reutilización del código.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Patrones Estructurales</a:t>
            </a:r>
          </a:p>
        </p:txBody>
      </p:sp>
      <p:sp>
        <p:nvSpPr>
          <p:cNvPr id="3" name="Content Placeholder 2"/>
          <p:cNvSpPr>
            <a:spLocks noGrp="1"/>
          </p:cNvSpPr>
          <p:nvPr>
            <p:ph idx="1"/>
          </p:nvPr>
        </p:nvSpPr>
        <p:spPr/>
        <p:txBody>
          <a:bodyPr/>
          <a:lstStyle/>
          <a:p>
            <a:pPr lvl="0" indent="0" marL="0">
              <a:buNone/>
            </a:pPr>
            <a:r>
              <a:rPr/>
              <a:t>Los patrones estructurales se centran en la composición de clases y objetos en estructuras más grandes. Proporcionan formas de componer objetos para obtener nuevas funcionalidades.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Patrones de Comportamiento</a:t>
            </a:r>
          </a:p>
        </p:txBody>
      </p:sp>
      <p:sp>
        <p:nvSpPr>
          <p:cNvPr id="3" name="Content Placeholder 2"/>
          <p:cNvSpPr>
            <a:spLocks noGrp="1"/>
          </p:cNvSpPr>
          <p:nvPr>
            <p:ph idx="1"/>
          </p:nvPr>
        </p:nvSpPr>
        <p:spPr/>
        <p:txBody>
          <a:bodyPr/>
          <a:lstStyle/>
          <a:p>
            <a:pPr lvl="0" indent="0" marL="0">
              <a:buNone/>
            </a:pPr>
            <a:r>
              <a:rPr/>
              <a:t>Los patrones de comportamiento se centran en la comunicación y la asignación de responsabilidades entre objetos. Proporcionan maneras de definir cómo los objetos interactúan y distribuyen responsabilidades.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Patrones Creacionales</a:t>
            </a:r>
          </a:p>
        </p:txBody>
      </p:sp>
      <p:sp>
        <p:nvSpPr>
          <p:cNvPr id="3" name="Content Placeholder 2"/>
          <p:cNvSpPr>
            <a:spLocks noGrp="1"/>
          </p:cNvSpPr>
          <p:nvPr>
            <p:ph idx="1"/>
          </p:nvPr>
        </p:nvSpPr>
        <p:spPr/>
        <p:txBody>
          <a:bodyPr/>
          <a:lstStyle/>
          <a:p>
            <a:pPr lvl="0" indent="0" marL="0">
              <a:spcBef>
                <a:spcPts val="3000"/>
              </a:spcBef>
              <a:buNone/>
            </a:pPr>
            <a:r>
              <a:rPr b="1"/>
              <a:t>Singleton</a:t>
            </a:r>
          </a:p>
          <a:p>
            <a:pPr lvl="0" indent="0" marL="0">
              <a:buNone/>
            </a:pPr>
            <a:r>
              <a:rPr/>
              <a:t>Asegura que una clase tenga una única instancia y proporciona un punto de acceso global a ella. Es útil cuando exactamente una instancia de una clase debe existir, como en el caso de una configuración global o un gestor de conexiones a una base de datos.</a:t>
            </a:r>
          </a:p>
          <a:p>
            <a:pPr lvl="0" indent="0">
              <a:buNone/>
            </a:pPr>
            <a:r>
              <a:rPr b="1">
                <a:solidFill>
                  <a:srgbClr val="007020"/>
                </a:solidFill>
                <a:latin typeface="Courier"/>
              </a:rPr>
              <a:t>class</a:t>
            </a:r>
            <a:r>
              <a:rPr>
                <a:latin typeface="Courier"/>
              </a:rPr>
              <a:t> Singleton {</a:t>
            </a:r>
            <a:br/>
            <a:r>
              <a:rPr>
                <a:latin typeface="Courier"/>
              </a:rPr>
              <a:t>    </a:t>
            </a:r>
            <a:r>
              <a:rPr b="1">
                <a:solidFill>
                  <a:srgbClr val="007020"/>
                </a:solidFill>
                <a:latin typeface="Courier"/>
              </a:rPr>
              <a:t>private</a:t>
            </a:r>
            <a:r>
              <a:rPr>
                <a:latin typeface="Courier"/>
              </a:rPr>
              <a:t> </a:t>
            </a:r>
            <a:r>
              <a:rPr b="1">
                <a:solidFill>
                  <a:srgbClr val="007020"/>
                </a:solidFill>
                <a:latin typeface="Courier"/>
              </a:rPr>
              <a:t>static</a:t>
            </a:r>
            <a:r>
              <a:rPr>
                <a:latin typeface="Courier"/>
              </a:rPr>
              <a:t> instance</a:t>
            </a:r>
            <a:r>
              <a:rPr>
                <a:solidFill>
                  <a:srgbClr val="666666"/>
                </a:solidFill>
                <a:latin typeface="Courier"/>
              </a:rPr>
              <a:t>:</a:t>
            </a:r>
            <a:r>
              <a:rPr>
                <a:latin typeface="Courier"/>
              </a:rPr>
              <a:t> Singleton</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b="1">
                <a:solidFill>
                  <a:srgbClr val="007020"/>
                </a:solidFill>
                <a:latin typeface="Courier"/>
              </a:rPr>
              <a:t>constructor</a:t>
            </a:r>
            <a:r>
              <a:rPr>
                <a:latin typeface="Courier"/>
              </a:rPr>
              <a:t>() {}</a:t>
            </a:r>
            <a:br/>
            <a:br/>
            <a:r>
              <a:rPr>
                <a:latin typeface="Courier"/>
              </a:rPr>
              <a:t>    </a:t>
            </a:r>
            <a:r>
              <a:rPr b="1">
                <a:solidFill>
                  <a:srgbClr val="007020"/>
                </a:solidFill>
                <a:latin typeface="Courier"/>
              </a:rPr>
              <a:t>public</a:t>
            </a:r>
            <a:r>
              <a:rPr>
                <a:latin typeface="Courier"/>
              </a:rPr>
              <a:t> </a:t>
            </a:r>
            <a:r>
              <a:rPr b="1">
                <a:solidFill>
                  <a:srgbClr val="007020"/>
                </a:solidFill>
                <a:latin typeface="Courier"/>
              </a:rPr>
              <a:t>static</a:t>
            </a:r>
            <a:r>
              <a:rPr>
                <a:latin typeface="Courier"/>
              </a:rPr>
              <a:t> </a:t>
            </a:r>
            <a:r>
              <a:rPr>
                <a:solidFill>
                  <a:srgbClr val="06287E"/>
                </a:solidFill>
                <a:latin typeface="Courier"/>
              </a:rPr>
              <a:t>getInstance</a:t>
            </a:r>
            <a:r>
              <a:rPr>
                <a:latin typeface="Courier"/>
              </a:rPr>
              <a:t>()</a:t>
            </a:r>
            <a:r>
              <a:rPr>
                <a:solidFill>
                  <a:srgbClr val="666666"/>
                </a:solidFill>
                <a:latin typeface="Courier"/>
              </a:rPr>
              <a:t>:</a:t>
            </a:r>
            <a:r>
              <a:rPr>
                <a:latin typeface="Courier"/>
              </a:rPr>
              <a:t> Singleton {</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Singleton</a:t>
            </a:r>
            <a:r>
              <a:rPr>
                <a:solidFill>
                  <a:srgbClr val="666666"/>
                </a:solidFill>
                <a:latin typeface="Courier"/>
              </a:rPr>
              <a:t>.</a:t>
            </a:r>
            <a:r>
              <a:rPr>
                <a:solidFill>
                  <a:srgbClr val="7D9029"/>
                </a:solidFill>
                <a:latin typeface="Courier"/>
              </a:rPr>
              <a:t>instance</a:t>
            </a:r>
            <a:r>
              <a:rPr>
                <a:latin typeface="Courier"/>
              </a:rPr>
              <a:t>) {</a:t>
            </a:r>
            <a:br/>
            <a:r>
              <a:rPr>
                <a:latin typeface="Courier"/>
              </a:rPr>
              <a:t>            Singleton</a:t>
            </a:r>
            <a:r>
              <a:rPr>
                <a:solidFill>
                  <a:srgbClr val="666666"/>
                </a:solidFill>
                <a:latin typeface="Courier"/>
              </a:rPr>
              <a:t>.</a:t>
            </a:r>
            <a:r>
              <a:rPr>
                <a:solidFill>
                  <a:srgbClr val="7D9029"/>
                </a:solidFill>
                <a:latin typeface="Courier"/>
              </a:rPr>
              <a:t>instance</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Singleton</a:t>
            </a:r>
            <a:r>
              <a:rPr>
                <a:latin typeface="Courier"/>
              </a:rPr>
              <a:t>()</a:t>
            </a:r>
            <a:r>
              <a:rPr>
                <a:solidFill>
                  <a:srgbClr val="666666"/>
                </a:solidFill>
                <a:latin typeface="Courier"/>
              </a:rPr>
              <a:t>;</a:t>
            </a:r>
            <a:br/>
            <a:r>
              <a:rPr>
                <a:latin typeface="Courier"/>
              </a:rPr>
              <a:t>        }</a:t>
            </a:r>
            <a:br/>
            <a:r>
              <a:rPr>
                <a:latin typeface="Courier"/>
              </a:rPr>
              <a:t>        </a:t>
            </a:r>
            <a:r>
              <a:rPr b="1">
                <a:solidFill>
                  <a:srgbClr val="007020"/>
                </a:solidFill>
                <a:latin typeface="Courier"/>
              </a:rPr>
              <a:t>return</a:t>
            </a:r>
            <a:r>
              <a:rPr>
                <a:latin typeface="Courier"/>
              </a:rPr>
              <a:t> Singleton</a:t>
            </a:r>
            <a:r>
              <a:rPr>
                <a:solidFill>
                  <a:srgbClr val="666666"/>
                </a:solidFill>
                <a:latin typeface="Courier"/>
              </a:rPr>
              <a:t>.</a:t>
            </a:r>
            <a:r>
              <a:rPr>
                <a:solidFill>
                  <a:srgbClr val="7D9029"/>
                </a:solidFill>
                <a:latin typeface="Courier"/>
              </a:rPr>
              <a:t>instance</a:t>
            </a:r>
            <a:r>
              <a:rPr>
                <a:solidFill>
                  <a:srgbClr val="666666"/>
                </a:solidFill>
                <a:latin typeface="Courier"/>
              </a:rPr>
              <a:t>;</a:t>
            </a:r>
            <a:br/>
            <a:r>
              <a:rPr>
                <a:latin typeface="Courier"/>
              </a:rPr>
              <a:t>    }</a:t>
            </a:r>
            <a:br/>
            <a:r>
              <a:rPr>
                <a:latin typeface="Courier"/>
              </a:rPr>
              <a: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Factoría (Factory)</a:t>
            </a:r>
          </a:p>
          <a:p>
            <a:pPr lvl="0" indent="0" marL="0">
              <a:buNone/>
            </a:pPr>
            <a:r>
              <a:rPr/>
              <a:t>Define una interfaz para crear un objeto, pero permite que las subclases alteren el tipo de objetos que se crearán. Es útil cuando una clase no puede anticipar el tipo de objetos que necesita crear.</a:t>
            </a:r>
          </a:p>
          <a:p>
            <a:pPr lvl="0" indent="0">
              <a:buNone/>
            </a:pPr>
            <a:r>
              <a:rPr b="1">
                <a:solidFill>
                  <a:srgbClr val="007020"/>
                </a:solidFill>
                <a:latin typeface="Courier"/>
              </a:rPr>
              <a:t>interface</a:t>
            </a:r>
            <a:r>
              <a:rPr>
                <a:latin typeface="Courier"/>
              </a:rPr>
              <a:t> Product {</a:t>
            </a:r>
            <a:b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r>
              <a:rPr>
                <a:latin typeface="Courier"/>
              </a:rPr>
              <a:t>}</a:t>
            </a:r>
            <a:br/>
            <a:br/>
            <a:r>
              <a:rPr b="1">
                <a:solidFill>
                  <a:srgbClr val="007020"/>
                </a:solidFill>
                <a:latin typeface="Courier"/>
              </a:rPr>
              <a:t>class</a:t>
            </a:r>
            <a:r>
              <a:rPr>
                <a:latin typeface="Courier"/>
              </a:rPr>
              <a:t> ConcreteProductA </a:t>
            </a:r>
            <a:r>
              <a:rPr b="1">
                <a:solidFill>
                  <a:srgbClr val="007020"/>
                </a:solidFill>
                <a:latin typeface="Courier"/>
              </a:rPr>
              <a:t>implements</a:t>
            </a:r>
            <a:r>
              <a:rPr>
                <a:latin typeface="Courier"/>
              </a:rPr>
              <a:t> Product {</a:t>
            </a:r>
            <a:br/>
            <a:r>
              <a:rPr>
                <a:latin typeface="Courier"/>
              </a:rPr>
              <a:t>    </a:t>
            </a:r>
            <a:r>
              <a:rPr b="1">
                <a:solidFill>
                  <a:srgbClr val="007020"/>
                </a:solidFill>
                <a:latin typeface="Courier"/>
              </a:rPr>
              <a:t>public</a:t>
            </a: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'{Result of ConcreteProductA}'</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ConcreteProductB </a:t>
            </a:r>
            <a:r>
              <a:rPr b="1">
                <a:solidFill>
                  <a:srgbClr val="007020"/>
                </a:solidFill>
                <a:latin typeface="Courier"/>
              </a:rPr>
              <a:t>implements</a:t>
            </a:r>
            <a:r>
              <a:rPr>
                <a:latin typeface="Courier"/>
              </a:rPr>
              <a:t> Product {</a:t>
            </a:r>
            <a:br/>
            <a:r>
              <a:rPr>
                <a:latin typeface="Courier"/>
              </a:rPr>
              <a:t>    </a:t>
            </a:r>
            <a:r>
              <a:rPr b="1">
                <a:solidFill>
                  <a:srgbClr val="007020"/>
                </a:solidFill>
                <a:latin typeface="Courier"/>
              </a:rPr>
              <a:t>public</a:t>
            </a: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'{Result of ConcreteProductB}'</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Creator {</a:t>
            </a:r>
            <a:br/>
            <a:r>
              <a:rPr>
                <a:latin typeface="Courier"/>
              </a:rPr>
              <a:t>    </a:t>
            </a:r>
            <a:r>
              <a:rPr b="1">
                <a:solidFill>
                  <a:srgbClr val="007020"/>
                </a:solidFill>
                <a:latin typeface="Courier"/>
              </a:rPr>
              <a:t>public</a:t>
            </a:r>
            <a:r>
              <a:rPr>
                <a:latin typeface="Courier"/>
              </a:rPr>
              <a:t> </a:t>
            </a:r>
            <a:r>
              <a:rPr>
                <a:solidFill>
                  <a:srgbClr val="06287E"/>
                </a:solidFill>
                <a:latin typeface="Courier"/>
              </a:rPr>
              <a:t>factoryMethod</a:t>
            </a:r>
            <a:r>
              <a:rPr>
                <a:latin typeface="Courier"/>
              </a:rPr>
              <a:t>()</a:t>
            </a:r>
            <a:r>
              <a:rPr>
                <a:solidFill>
                  <a:srgbClr val="666666"/>
                </a:solidFill>
                <a:latin typeface="Courier"/>
              </a:rPr>
              <a:t>:</a:t>
            </a:r>
            <a:r>
              <a:rPr>
                <a:latin typeface="Courier"/>
              </a:rPr>
              <a:t> Product {</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ConcreteProductA</a:t>
            </a:r>
            <a:r>
              <a:rPr>
                <a:latin typeface="Courier"/>
              </a:rPr>
              <a:t>()</a:t>
            </a:r>
            <a:r>
              <a:rPr>
                <a:solidFill>
                  <a:srgbClr val="666666"/>
                </a:solidFill>
                <a:latin typeface="Courier"/>
              </a:rPr>
              <a:t>;</a:t>
            </a:r>
            <a:br/>
            <a:r>
              <a:rPr>
                <a:latin typeface="Courier"/>
              </a:rPr>
              <a:t>    }</a:t>
            </a:r>
            <a:br/>
            <a:r>
              <a:rPr>
                <a:latin typeface="Courie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Builder</a:t>
            </a:r>
          </a:p>
          <a:p>
            <a:pPr lvl="0" indent="0" marL="0">
              <a:buNone/>
            </a:pPr>
            <a:r>
              <a:rPr/>
              <a:t>Separa la construcción de un objeto complejo de su representación, permitiendo que el mismo proceso de construcción cree diferentes representaciones. Es útil cuando un objeto complejo debe ser construido paso a paso y se necesita flexibilidad en el proceso de construcción.</a:t>
            </a:r>
          </a:p>
          <a:p>
            <a:pPr lvl="0" indent="0">
              <a:buNone/>
            </a:pPr>
            <a:r>
              <a:rPr b="1">
                <a:solidFill>
                  <a:srgbClr val="007020"/>
                </a:solidFill>
                <a:latin typeface="Courier"/>
              </a:rPr>
              <a:t>class</a:t>
            </a:r>
            <a:r>
              <a:rPr>
                <a:latin typeface="Courier"/>
              </a:rPr>
              <a:t> Product1 {</a:t>
            </a:r>
            <a:br/>
            <a:r>
              <a:rPr>
                <a:latin typeface="Courier"/>
              </a:rPr>
              <a:t>    </a:t>
            </a:r>
            <a:r>
              <a:rPr b="1">
                <a:solidFill>
                  <a:srgbClr val="007020"/>
                </a:solidFill>
                <a:latin typeface="Courier"/>
              </a:rPr>
              <a:t>public</a:t>
            </a:r>
            <a:r>
              <a:rPr>
                <a:latin typeface="Courier"/>
              </a:rPr>
              <a:t> parts</a:t>
            </a:r>
            <a:r>
              <a:rPr>
                <a:solidFill>
                  <a:srgbClr val="666666"/>
                </a:solidFill>
                <a:latin typeface="Courier"/>
              </a:rPr>
              <a:t>:</a:t>
            </a:r>
            <a:r>
              <a:rPr>
                <a:latin typeface="Courier"/>
              </a:rPr>
              <a:t> </a:t>
            </a:r>
            <a:r>
              <a:rPr>
                <a:solidFill>
                  <a:srgbClr val="902000"/>
                </a:solidFill>
                <a:latin typeface="Courier"/>
              </a:rPr>
              <a:t>string</a:t>
            </a:r>
            <a:r>
              <a:rPr>
                <a:latin typeface="Courier"/>
              </a:rPr>
              <a:t>[] </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listParts</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`Product parts: ${</a:t>
            </a:r>
            <a:r>
              <a:rPr b="1">
                <a:solidFill>
                  <a:srgbClr val="007020"/>
                </a:solidFill>
                <a:latin typeface="Courier"/>
              </a:rPr>
              <a:t>this</a:t>
            </a:r>
            <a:r>
              <a:rPr>
                <a:solidFill>
                  <a:srgbClr val="666666"/>
                </a:solidFill>
                <a:latin typeface="Courier"/>
              </a:rPr>
              <a:t>.</a:t>
            </a:r>
            <a:r>
              <a:rPr>
                <a:solidFill>
                  <a:srgbClr val="7D9029"/>
                </a:solidFill>
                <a:latin typeface="Courier"/>
              </a:rPr>
              <a:t>parts</a:t>
            </a:r>
            <a:r>
              <a:rPr>
                <a:solidFill>
                  <a:srgbClr val="666666"/>
                </a:solidFill>
                <a:latin typeface="Courier"/>
              </a:rPr>
              <a:t>.</a:t>
            </a:r>
            <a:r>
              <a:rPr>
                <a:solidFill>
                  <a:srgbClr val="06287E"/>
                </a:solidFill>
                <a:latin typeface="Courier"/>
              </a:rPr>
              <a:t>join</a:t>
            </a:r>
            <a:r>
              <a:rPr>
                <a:latin typeface="Courier"/>
              </a:rPr>
              <a:t>(</a:t>
            </a:r>
            <a:r>
              <a:rPr>
                <a:solidFill>
                  <a:srgbClr val="4070A0"/>
                </a:solidFill>
                <a:latin typeface="Courier"/>
              </a:rPr>
              <a:t>', '</a:t>
            </a:r>
            <a:r>
              <a:rPr>
                <a:latin typeface="Courier"/>
              </a:rPr>
              <a:t>)</a:t>
            </a:r>
            <a:r>
              <a:rPr>
                <a:solidFill>
                  <a:srgbClr val="4070A0"/>
                </a:solidFill>
                <a:latin typeface="Courier"/>
              </a:rPr>
              <a:t>}\n`</a:t>
            </a:r>
            <a:r>
              <a:rPr>
                <a:latin typeface="Courier"/>
              </a:rPr>
              <a:t>)</a:t>
            </a:r>
            <a:r>
              <a:rPr>
                <a:solidFill>
                  <a:srgbClr val="666666"/>
                </a:solidFill>
                <a:latin typeface="Courier"/>
              </a:rPr>
              <a:t>;</a:t>
            </a:r>
            <a:br/>
            <a:r>
              <a:rPr>
                <a:latin typeface="Courier"/>
              </a:rPr>
              <a:t>    }</a:t>
            </a:r>
            <a:br/>
            <a:r>
              <a:rPr>
                <a:latin typeface="Courier"/>
              </a:rPr>
              <a:t>}</a:t>
            </a:r>
            <a:br/>
            <a:br/>
            <a:r>
              <a:rPr b="1">
                <a:solidFill>
                  <a:srgbClr val="007020"/>
                </a:solidFill>
                <a:latin typeface="Courier"/>
              </a:rPr>
              <a:t>interface</a:t>
            </a:r>
            <a:r>
              <a:rPr>
                <a:latin typeface="Courier"/>
              </a:rPr>
              <a:t> Builder {</a:t>
            </a:r>
            <a:br/>
            <a:r>
              <a:rPr>
                <a:latin typeface="Courier"/>
              </a:rPr>
              <a:t>    </a:t>
            </a:r>
            <a:r>
              <a:rPr>
                <a:solidFill>
                  <a:srgbClr val="06287E"/>
                </a:solidFill>
                <a:latin typeface="Courier"/>
              </a:rPr>
              <a:t>producePartA</a:t>
            </a:r>
            <a:r>
              <a:rPr>
                <a:latin typeface="Courier"/>
              </a:rPr>
              <a:t>()</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    </a:t>
            </a:r>
            <a:r>
              <a:rPr>
                <a:solidFill>
                  <a:srgbClr val="06287E"/>
                </a:solidFill>
                <a:latin typeface="Courier"/>
              </a:rPr>
              <a:t>producePartB</a:t>
            </a:r>
            <a:r>
              <a:rPr>
                <a:latin typeface="Courier"/>
              </a:rPr>
              <a:t>()</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    </a:t>
            </a:r>
            <a:r>
              <a:rPr>
                <a:solidFill>
                  <a:srgbClr val="06287E"/>
                </a:solidFill>
                <a:latin typeface="Courier"/>
              </a:rPr>
              <a:t>producePartC</a:t>
            </a:r>
            <a:r>
              <a:rPr>
                <a:latin typeface="Courier"/>
              </a:rPr>
              <a:t>()</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a:t>
            </a:r>
            <a:br/>
            <a:br/>
            <a:r>
              <a:rPr b="1">
                <a:solidFill>
                  <a:srgbClr val="007020"/>
                </a:solidFill>
                <a:latin typeface="Courier"/>
              </a:rPr>
              <a:t>class</a:t>
            </a:r>
            <a:r>
              <a:rPr>
                <a:latin typeface="Courier"/>
              </a:rPr>
              <a:t> ConcreteBuilder1 </a:t>
            </a:r>
            <a:r>
              <a:rPr b="1">
                <a:solidFill>
                  <a:srgbClr val="007020"/>
                </a:solidFill>
                <a:latin typeface="Courier"/>
              </a:rPr>
              <a:t>implements</a:t>
            </a:r>
            <a:r>
              <a:rPr>
                <a:latin typeface="Courier"/>
              </a:rPr>
              <a:t> Builder {</a:t>
            </a:r>
            <a:br/>
            <a:r>
              <a:rPr>
                <a:latin typeface="Courier"/>
              </a:rPr>
              <a:t>    </a:t>
            </a:r>
            <a:r>
              <a:rPr b="1">
                <a:solidFill>
                  <a:srgbClr val="007020"/>
                </a:solidFill>
                <a:latin typeface="Courier"/>
              </a:rPr>
              <a:t>private</a:t>
            </a:r>
            <a:r>
              <a:rPr>
                <a:latin typeface="Courier"/>
              </a:rPr>
              <a:t> product</a:t>
            </a:r>
            <a:r>
              <a:rPr>
                <a:solidFill>
                  <a:srgbClr val="666666"/>
                </a:solidFill>
                <a:latin typeface="Courier"/>
              </a:rPr>
              <a:t>:</a:t>
            </a:r>
            <a:r>
              <a:rPr>
                <a:latin typeface="Courier"/>
              </a:rPr>
              <a:t> Product1</a:t>
            </a:r>
            <a:r>
              <a:rPr>
                <a:solidFill>
                  <a:srgbClr val="666666"/>
                </a:solidFill>
                <a:latin typeface="Courier"/>
              </a:rPr>
              <a:t>;</a:t>
            </a:r>
            <a:br/>
            <a:br/>
            <a:r>
              <a:rPr>
                <a:latin typeface="Courier"/>
              </a:rPr>
              <a:t>    </a:t>
            </a:r>
            <a:r>
              <a:rPr b="1">
                <a:solidFill>
                  <a:srgbClr val="007020"/>
                </a:solidFill>
                <a:latin typeface="Courier"/>
              </a:rPr>
              <a:t>constructor</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reset</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reset</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product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Product1</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producePartA</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product</a:t>
            </a:r>
            <a:r>
              <a:rPr>
                <a:solidFill>
                  <a:srgbClr val="666666"/>
                </a:solidFill>
                <a:latin typeface="Courier"/>
              </a:rPr>
              <a:t>.</a:t>
            </a:r>
            <a:r>
              <a:rPr>
                <a:solidFill>
                  <a:srgbClr val="7D9029"/>
                </a:solidFill>
                <a:latin typeface="Courier"/>
              </a:rPr>
              <a:t>parts</a:t>
            </a:r>
            <a:r>
              <a:rPr>
                <a:solidFill>
                  <a:srgbClr val="666666"/>
                </a:solidFill>
                <a:latin typeface="Courier"/>
              </a:rPr>
              <a:t>.</a:t>
            </a:r>
            <a:r>
              <a:rPr>
                <a:solidFill>
                  <a:srgbClr val="06287E"/>
                </a:solidFill>
                <a:latin typeface="Courier"/>
              </a:rPr>
              <a:t>push</a:t>
            </a:r>
            <a:r>
              <a:rPr>
                <a:latin typeface="Courier"/>
              </a:rPr>
              <a:t>(</a:t>
            </a:r>
            <a:r>
              <a:rPr>
                <a:solidFill>
                  <a:srgbClr val="4070A0"/>
                </a:solidFill>
                <a:latin typeface="Courier"/>
              </a:rPr>
              <a:t>'PartA1'</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producePartB</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product</a:t>
            </a:r>
            <a:r>
              <a:rPr>
                <a:solidFill>
                  <a:srgbClr val="666666"/>
                </a:solidFill>
                <a:latin typeface="Courier"/>
              </a:rPr>
              <a:t>.</a:t>
            </a:r>
            <a:r>
              <a:rPr>
                <a:solidFill>
                  <a:srgbClr val="7D9029"/>
                </a:solidFill>
                <a:latin typeface="Courier"/>
              </a:rPr>
              <a:t>parts</a:t>
            </a:r>
            <a:r>
              <a:rPr>
                <a:solidFill>
                  <a:srgbClr val="666666"/>
                </a:solidFill>
                <a:latin typeface="Courier"/>
              </a:rPr>
              <a:t>.</a:t>
            </a:r>
            <a:r>
              <a:rPr>
                <a:solidFill>
                  <a:srgbClr val="06287E"/>
                </a:solidFill>
                <a:latin typeface="Courier"/>
              </a:rPr>
              <a:t>push</a:t>
            </a:r>
            <a:r>
              <a:rPr>
                <a:latin typeface="Courier"/>
              </a:rPr>
              <a:t>(</a:t>
            </a:r>
            <a:r>
              <a:rPr>
                <a:solidFill>
                  <a:srgbClr val="4070A0"/>
                </a:solidFill>
                <a:latin typeface="Courier"/>
              </a:rPr>
              <a:t>'PartB1'</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producePartC</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product</a:t>
            </a:r>
            <a:r>
              <a:rPr>
                <a:solidFill>
                  <a:srgbClr val="666666"/>
                </a:solidFill>
                <a:latin typeface="Courier"/>
              </a:rPr>
              <a:t>.</a:t>
            </a:r>
            <a:r>
              <a:rPr>
                <a:solidFill>
                  <a:srgbClr val="7D9029"/>
                </a:solidFill>
                <a:latin typeface="Courier"/>
              </a:rPr>
              <a:t>parts</a:t>
            </a:r>
            <a:r>
              <a:rPr>
                <a:solidFill>
                  <a:srgbClr val="666666"/>
                </a:solidFill>
                <a:latin typeface="Courier"/>
              </a:rPr>
              <a:t>.</a:t>
            </a:r>
            <a:r>
              <a:rPr>
                <a:solidFill>
                  <a:srgbClr val="06287E"/>
                </a:solidFill>
                <a:latin typeface="Courier"/>
              </a:rPr>
              <a:t>push</a:t>
            </a:r>
            <a:r>
              <a:rPr>
                <a:latin typeface="Courier"/>
              </a:rPr>
              <a:t>(</a:t>
            </a:r>
            <a:r>
              <a:rPr>
                <a:solidFill>
                  <a:srgbClr val="4070A0"/>
                </a:solidFill>
                <a:latin typeface="Courier"/>
              </a:rPr>
              <a:t>'PartC1'</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getProduct</a:t>
            </a:r>
            <a:r>
              <a:rPr>
                <a:latin typeface="Courier"/>
              </a:rPr>
              <a:t>()</a:t>
            </a:r>
            <a:r>
              <a:rPr>
                <a:solidFill>
                  <a:srgbClr val="666666"/>
                </a:solidFill>
                <a:latin typeface="Courier"/>
              </a:rPr>
              <a:t>:</a:t>
            </a:r>
            <a:r>
              <a:rPr>
                <a:latin typeface="Courier"/>
              </a:rPr>
              <a:t> Product1 {</a:t>
            </a:r>
            <a:br/>
            <a:r>
              <a:rPr>
                <a:latin typeface="Courier"/>
              </a:rPr>
              <a:t>        </a:t>
            </a:r>
            <a:r>
              <a:rPr b="1">
                <a:solidFill>
                  <a:srgbClr val="007020"/>
                </a:solidFill>
                <a:latin typeface="Courier"/>
              </a:rPr>
              <a:t>const</a:t>
            </a: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product</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reset</a:t>
            </a:r>
            <a:r>
              <a:rPr>
                <a:latin typeface="Courier"/>
              </a:rPr>
              <a:t>()</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br/>
            <a:r>
              <a:rPr>
                <a:latin typeface="Courier"/>
              </a:rPr>
              <a:t>    }</a:t>
            </a:r>
            <a:br/>
            <a:r>
              <a:rPr>
                <a:latin typeface="Courie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Patrones Estructurales</a:t>
            </a:r>
          </a:p>
        </p:txBody>
      </p:sp>
      <p:sp>
        <p:nvSpPr>
          <p:cNvPr id="3" name="Content Placeholder 2"/>
          <p:cNvSpPr>
            <a:spLocks noGrp="1"/>
          </p:cNvSpPr>
          <p:nvPr>
            <p:ph idx="1"/>
          </p:nvPr>
        </p:nvSpPr>
        <p:spPr/>
        <p:txBody>
          <a:bodyPr/>
          <a:lstStyle/>
          <a:p>
            <a:pPr lvl="0" indent="0" marL="0">
              <a:spcBef>
                <a:spcPts val="3000"/>
              </a:spcBef>
              <a:buNone/>
            </a:pPr>
            <a:r>
              <a:rPr b="1"/>
              <a:t>Adaptador (Adapter)</a:t>
            </a:r>
          </a:p>
          <a:p>
            <a:pPr lvl="0" indent="0" marL="0">
              <a:buNone/>
            </a:pPr>
            <a:r>
              <a:rPr/>
              <a:t>Permite que la interfaz de una clase sea utilizada como otra interfaz. Es útil para hacer que las clases existentes trabajen juntas, aunque tengan interfaces incompatibles.</a:t>
            </a:r>
          </a:p>
          <a:p>
            <a:pPr lvl="0" indent="0">
              <a:buNone/>
            </a:pPr>
            <a:r>
              <a:rPr b="1">
                <a:solidFill>
                  <a:srgbClr val="007020"/>
                </a:solidFill>
                <a:latin typeface="Courier"/>
              </a:rPr>
              <a:t>class</a:t>
            </a:r>
            <a:r>
              <a:rPr>
                <a:latin typeface="Courier"/>
              </a:rPr>
              <a:t> Target {</a:t>
            </a:r>
            <a:br/>
            <a:r>
              <a:rPr>
                <a:latin typeface="Courier"/>
              </a:rPr>
              <a:t>    </a:t>
            </a:r>
            <a:r>
              <a:rPr b="1">
                <a:solidFill>
                  <a:srgbClr val="007020"/>
                </a:solidFill>
                <a:latin typeface="Courier"/>
              </a:rPr>
              <a:t>public</a:t>
            </a:r>
            <a:r>
              <a:rPr>
                <a:latin typeface="Courier"/>
              </a:rPr>
              <a:t> </a:t>
            </a:r>
            <a:r>
              <a:rPr>
                <a:solidFill>
                  <a:srgbClr val="06287E"/>
                </a:solidFill>
                <a:latin typeface="Courier"/>
              </a:rPr>
              <a:t>request</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'Target: The default target\'s behavior.'</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Adaptee {</a:t>
            </a:r>
            <a:br/>
            <a:r>
              <a:rPr>
                <a:latin typeface="Courier"/>
              </a:rPr>
              <a:t>    </a:t>
            </a:r>
            <a:r>
              <a:rPr b="1">
                <a:solidFill>
                  <a:srgbClr val="007020"/>
                </a:solidFill>
                <a:latin typeface="Courier"/>
              </a:rPr>
              <a:t>public</a:t>
            </a:r>
            <a:r>
              <a:rPr>
                <a:latin typeface="Courier"/>
              </a:rPr>
              <a:t> </a:t>
            </a:r>
            <a:r>
              <a:rPr>
                <a:solidFill>
                  <a:srgbClr val="06287E"/>
                </a:solidFill>
                <a:latin typeface="Courier"/>
              </a:rPr>
              <a:t>specificRequest</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'.eetpadA eht fo roivaheb laicepS'</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Adapter </a:t>
            </a:r>
            <a:r>
              <a:rPr b="1">
                <a:solidFill>
                  <a:srgbClr val="007020"/>
                </a:solidFill>
                <a:latin typeface="Courier"/>
              </a:rPr>
              <a:t>extends</a:t>
            </a:r>
            <a:r>
              <a:rPr>
                <a:latin typeface="Courier"/>
              </a:rPr>
              <a:t> Target {</a:t>
            </a:r>
            <a:br/>
            <a:r>
              <a:rPr>
                <a:latin typeface="Courier"/>
              </a:rPr>
              <a:t>    </a:t>
            </a:r>
            <a:r>
              <a:rPr b="1">
                <a:solidFill>
                  <a:srgbClr val="007020"/>
                </a:solidFill>
                <a:latin typeface="Courier"/>
              </a:rPr>
              <a:t>private</a:t>
            </a:r>
            <a:r>
              <a:rPr>
                <a:latin typeface="Courier"/>
              </a:rPr>
              <a:t> adaptee</a:t>
            </a:r>
            <a:r>
              <a:rPr>
                <a:solidFill>
                  <a:srgbClr val="666666"/>
                </a:solidFill>
                <a:latin typeface="Courier"/>
              </a:rPr>
              <a:t>:</a:t>
            </a:r>
            <a:r>
              <a:rPr>
                <a:latin typeface="Courier"/>
              </a:rPr>
              <a:t> Adaptee</a:t>
            </a:r>
            <a:r>
              <a:rPr>
                <a:solidFill>
                  <a:srgbClr val="666666"/>
                </a:solidFill>
                <a:latin typeface="Courier"/>
              </a:rPr>
              <a:t>;</a:t>
            </a:r>
            <a:br/>
            <a:br/>
            <a:r>
              <a:rPr>
                <a:latin typeface="Courier"/>
              </a:rPr>
              <a:t>    </a:t>
            </a:r>
            <a:r>
              <a:rPr b="1">
                <a:solidFill>
                  <a:srgbClr val="007020"/>
                </a:solidFill>
                <a:latin typeface="Courier"/>
              </a:rPr>
              <a:t>constructor</a:t>
            </a:r>
            <a:r>
              <a:rPr>
                <a:latin typeface="Courier"/>
              </a:rPr>
              <a:t>(adaptee</a:t>
            </a:r>
            <a:r>
              <a:rPr>
                <a:solidFill>
                  <a:srgbClr val="666666"/>
                </a:solidFill>
                <a:latin typeface="Courier"/>
              </a:rPr>
              <a:t>:</a:t>
            </a:r>
            <a:r>
              <a:rPr>
                <a:latin typeface="Courier"/>
              </a:rPr>
              <a:t> Adaptee) {</a:t>
            </a:r>
            <a:br/>
            <a:r>
              <a:rPr>
                <a:latin typeface="Courier"/>
              </a:rPr>
              <a:t>        </a:t>
            </a:r>
            <a:r>
              <a:rPr b="1">
                <a:solidFill>
                  <a:srgbClr val="007020"/>
                </a:solidFill>
                <a:latin typeface="Courier"/>
              </a:rPr>
              <a:t>super</a:t>
            </a:r>
            <a:r>
              <a:rPr>
                <a:latin typeface="Courier"/>
              </a:rPr>
              <a:t>()</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adaptee</a:t>
            </a:r>
            <a:r>
              <a:rPr>
                <a:latin typeface="Courier"/>
              </a:rPr>
              <a:t> </a:t>
            </a:r>
            <a:r>
              <a:rPr>
                <a:solidFill>
                  <a:srgbClr val="666666"/>
                </a:solidFill>
                <a:latin typeface="Courier"/>
              </a:rPr>
              <a:t>=</a:t>
            </a:r>
            <a:r>
              <a:rPr>
                <a:latin typeface="Courier"/>
              </a:rPr>
              <a:t> adaptee</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request</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const</a:t>
            </a: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adaptee</a:t>
            </a:r>
            <a:r>
              <a:rPr>
                <a:solidFill>
                  <a:srgbClr val="666666"/>
                </a:solidFill>
                <a:latin typeface="Courier"/>
              </a:rPr>
              <a:t>.</a:t>
            </a:r>
            <a:r>
              <a:rPr>
                <a:solidFill>
                  <a:srgbClr val="06287E"/>
                </a:solidFill>
                <a:latin typeface="Courier"/>
              </a:rPr>
              <a:t>specificRequest</a:t>
            </a:r>
            <a:r>
              <a:rPr>
                <a:latin typeface="Courier"/>
              </a:rPr>
              <a:t>()</a:t>
            </a:r>
            <a:r>
              <a:rPr>
                <a:solidFill>
                  <a:srgbClr val="666666"/>
                </a:solidFill>
                <a:latin typeface="Courier"/>
              </a:rPr>
              <a:t>.</a:t>
            </a:r>
            <a:r>
              <a:rPr>
                <a:solidFill>
                  <a:srgbClr val="06287E"/>
                </a:solidFill>
                <a:latin typeface="Courier"/>
              </a:rPr>
              <a:t>split</a:t>
            </a:r>
            <a:r>
              <a:rPr>
                <a:latin typeface="Courier"/>
              </a:rPr>
              <a:t>(</a:t>
            </a:r>
            <a:r>
              <a:rPr>
                <a:solidFill>
                  <a:srgbClr val="4070A0"/>
                </a:solidFill>
                <a:latin typeface="Courier"/>
              </a:rPr>
              <a:t>''</a:t>
            </a:r>
            <a:r>
              <a:rPr>
                <a:latin typeface="Courier"/>
              </a:rPr>
              <a:t>)</a:t>
            </a:r>
            <a:r>
              <a:rPr>
                <a:solidFill>
                  <a:srgbClr val="666666"/>
                </a:solidFill>
                <a:latin typeface="Courier"/>
              </a:rPr>
              <a:t>.</a:t>
            </a:r>
            <a:r>
              <a:rPr>
                <a:solidFill>
                  <a:srgbClr val="06287E"/>
                </a:solidFill>
                <a:latin typeface="Courier"/>
              </a:rPr>
              <a:t>reverse</a:t>
            </a:r>
            <a:r>
              <a:rPr>
                <a:latin typeface="Courier"/>
              </a:rPr>
              <a:t>()</a:t>
            </a:r>
            <a:r>
              <a:rPr>
                <a:solidFill>
                  <a:srgbClr val="666666"/>
                </a:solidFill>
                <a:latin typeface="Courier"/>
              </a:rPr>
              <a:t>.</a:t>
            </a:r>
            <a:r>
              <a:rPr>
                <a:solidFill>
                  <a:srgbClr val="06287E"/>
                </a:solidFill>
                <a:latin typeface="Courier"/>
              </a:rPr>
              <a:t>join</a:t>
            </a:r>
            <a:r>
              <a:rPr>
                <a:latin typeface="Courier"/>
              </a:rPr>
              <a:t>(</a:t>
            </a:r>
            <a:r>
              <a:rPr>
                <a:solidFill>
                  <a:srgbClr val="4070A0"/>
                </a:solidFill>
                <a:latin typeface="Courier"/>
              </a:rPr>
              <a:t>''</a:t>
            </a:r>
            <a:r>
              <a:rPr>
                <a:latin typeface="Courier"/>
              </a:rPr>
              <a:t>)</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`Adapter: (TRANSLATED) ${</a:t>
            </a:r>
            <a:r>
              <a:rPr>
                <a:latin typeface="Courier"/>
              </a:rPr>
              <a:t>result</a:t>
            </a:r>
            <a:r>
              <a:rPr>
                <a:solidFill>
                  <a:srgbClr val="4070A0"/>
                </a:solidFill>
                <a:latin typeface="Courier"/>
              </a:rPr>
              <a:t>}`</a:t>
            </a:r>
            <a:r>
              <a:rPr>
                <a:solidFill>
                  <a:srgbClr val="666666"/>
                </a:solidFill>
                <a:latin typeface="Courier"/>
              </a:rPr>
              <a:t>;</a:t>
            </a:r>
            <a:br/>
            <a:r>
              <a:rPr>
                <a:latin typeface="Courier"/>
              </a:rPr>
              <a:t>    }</a:t>
            </a:r>
            <a:br/>
            <a:r>
              <a:rPr>
                <a:latin typeface="Courie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Decorador (Decorator)</a:t>
            </a:r>
          </a:p>
          <a:p>
            <a:pPr lvl="0" indent="0" marL="0">
              <a:buNone/>
            </a:pPr>
            <a:r>
              <a:rPr/>
              <a:t>Añade responsabilidades adicionales a un objeto dinámicamente. Los decoradores proporcionan una alternativa flexible al uso de subclases para la extensión de funcionalidades. Es útil cuando se necesita añadir comportamientos a objetos individuales sin afectar a otros objetos de la misma clase.</a:t>
            </a:r>
          </a:p>
          <a:p>
            <a:pPr lvl="0" indent="0">
              <a:buNone/>
            </a:pPr>
            <a:r>
              <a:rPr b="1">
                <a:solidFill>
                  <a:srgbClr val="007020"/>
                </a:solidFill>
                <a:latin typeface="Courier"/>
              </a:rPr>
              <a:t>interface</a:t>
            </a:r>
            <a:r>
              <a:rPr>
                <a:latin typeface="Courier"/>
              </a:rPr>
              <a:t> Component {</a:t>
            </a:r>
            <a:b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r>
              <a:rPr>
                <a:latin typeface="Courier"/>
              </a:rPr>
              <a:t>}</a:t>
            </a:r>
            <a:br/>
            <a:br/>
            <a:r>
              <a:rPr b="1">
                <a:solidFill>
                  <a:srgbClr val="007020"/>
                </a:solidFill>
                <a:latin typeface="Courier"/>
              </a:rPr>
              <a:t>class</a:t>
            </a:r>
            <a:r>
              <a:rPr>
                <a:latin typeface="Courier"/>
              </a:rPr>
              <a:t> ConcreteComponent </a:t>
            </a:r>
            <a:r>
              <a:rPr b="1">
                <a:solidFill>
                  <a:srgbClr val="007020"/>
                </a:solidFill>
                <a:latin typeface="Courier"/>
              </a:rPr>
              <a:t>implements</a:t>
            </a:r>
            <a:r>
              <a:rPr>
                <a:latin typeface="Courier"/>
              </a:rPr>
              <a:t> Component {</a:t>
            </a:r>
            <a:br/>
            <a:r>
              <a:rPr>
                <a:latin typeface="Courier"/>
              </a:rPr>
              <a:t>    </a:t>
            </a:r>
            <a:r>
              <a:rPr b="1">
                <a:solidFill>
                  <a:srgbClr val="007020"/>
                </a:solidFill>
                <a:latin typeface="Courier"/>
              </a:rPr>
              <a:t>public</a:t>
            </a: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'ConcreteComponent'</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Decorator </a:t>
            </a:r>
            <a:r>
              <a:rPr b="1">
                <a:solidFill>
                  <a:srgbClr val="007020"/>
                </a:solidFill>
                <a:latin typeface="Courier"/>
              </a:rPr>
              <a:t>implements</a:t>
            </a:r>
            <a:r>
              <a:rPr>
                <a:latin typeface="Courier"/>
              </a:rPr>
              <a:t> Component {</a:t>
            </a:r>
            <a:br/>
            <a:r>
              <a:rPr>
                <a:latin typeface="Courier"/>
              </a:rPr>
              <a:t>    </a:t>
            </a:r>
            <a:r>
              <a:rPr b="1">
                <a:solidFill>
                  <a:srgbClr val="007020"/>
                </a:solidFill>
                <a:latin typeface="Courier"/>
              </a:rPr>
              <a:t>protected</a:t>
            </a:r>
            <a:r>
              <a:rPr>
                <a:latin typeface="Courier"/>
              </a:rPr>
              <a:t> component</a:t>
            </a:r>
            <a:r>
              <a:rPr>
                <a:solidFill>
                  <a:srgbClr val="666666"/>
                </a:solidFill>
                <a:latin typeface="Courier"/>
              </a:rPr>
              <a:t>:</a:t>
            </a:r>
            <a:r>
              <a:rPr>
                <a:latin typeface="Courier"/>
              </a:rPr>
              <a:t> Component</a:t>
            </a:r>
            <a:r>
              <a:rPr>
                <a:solidFill>
                  <a:srgbClr val="666666"/>
                </a:solidFill>
                <a:latin typeface="Courier"/>
              </a:rPr>
              <a:t>;</a:t>
            </a:r>
            <a:br/>
            <a:br/>
            <a:r>
              <a:rPr>
                <a:latin typeface="Courier"/>
              </a:rPr>
              <a:t>    </a:t>
            </a:r>
            <a:r>
              <a:rPr b="1">
                <a:solidFill>
                  <a:srgbClr val="007020"/>
                </a:solidFill>
                <a:latin typeface="Courier"/>
              </a:rPr>
              <a:t>constructor</a:t>
            </a:r>
            <a:r>
              <a:rPr>
                <a:latin typeface="Courier"/>
              </a:rPr>
              <a:t>(component</a:t>
            </a:r>
            <a:r>
              <a:rPr>
                <a:solidFill>
                  <a:srgbClr val="666666"/>
                </a:solidFill>
                <a:latin typeface="Courier"/>
              </a:rPr>
              <a:t>:</a:t>
            </a:r>
            <a:r>
              <a:rPr>
                <a:latin typeface="Courier"/>
              </a:rPr>
              <a:t> Component)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component</a:t>
            </a:r>
            <a:r>
              <a:rPr>
                <a:latin typeface="Courier"/>
              </a:rPr>
              <a:t> </a:t>
            </a:r>
            <a:r>
              <a:rPr>
                <a:solidFill>
                  <a:srgbClr val="666666"/>
                </a:solidFill>
                <a:latin typeface="Courier"/>
              </a:rPr>
              <a:t>=</a:t>
            </a:r>
            <a:r>
              <a:rPr>
                <a:latin typeface="Courier"/>
              </a:rPr>
              <a:t> component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component</a:t>
            </a:r>
            <a:r>
              <a:rPr>
                <a:solidFill>
                  <a:srgbClr val="666666"/>
                </a:solidFill>
                <a:latin typeface="Courier"/>
              </a:rPr>
              <a:t>.</a:t>
            </a:r>
            <a:r>
              <a:rPr>
                <a:solidFill>
                  <a:srgbClr val="06287E"/>
                </a:solidFill>
                <a:latin typeface="Courier"/>
              </a:rPr>
              <a:t>operation</a:t>
            </a:r>
            <a:r>
              <a:rPr>
                <a:latin typeface="Courier"/>
              </a:rPr>
              <a:t>()</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ConcreteDecoratorA </a:t>
            </a:r>
            <a:r>
              <a:rPr b="1">
                <a:solidFill>
                  <a:srgbClr val="007020"/>
                </a:solidFill>
                <a:latin typeface="Courier"/>
              </a:rPr>
              <a:t>extends</a:t>
            </a:r>
            <a:r>
              <a:rPr>
                <a:latin typeface="Courier"/>
              </a:rPr>
              <a:t> Decorator {</a:t>
            </a:r>
            <a:br/>
            <a:r>
              <a:rPr>
                <a:latin typeface="Courier"/>
              </a:rPr>
              <a:t>    </a:t>
            </a:r>
            <a:r>
              <a:rPr b="1">
                <a:solidFill>
                  <a:srgbClr val="007020"/>
                </a:solidFill>
                <a:latin typeface="Courier"/>
              </a:rPr>
              <a:t>public</a:t>
            </a: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`ConcreteDecoratorA(${</a:t>
            </a:r>
            <a:r>
              <a:rPr b="1">
                <a:solidFill>
                  <a:srgbClr val="007020"/>
                </a:solidFill>
                <a:latin typeface="Courier"/>
              </a:rPr>
              <a:t>super</a:t>
            </a:r>
            <a:r>
              <a:rPr>
                <a:solidFill>
                  <a:srgbClr val="666666"/>
                </a:solidFill>
                <a:latin typeface="Courier"/>
              </a:rPr>
              <a:t>.</a:t>
            </a:r>
            <a:r>
              <a:rPr>
                <a:solidFill>
                  <a:srgbClr val="06287E"/>
                </a:solidFill>
                <a:latin typeface="Courier"/>
              </a:rPr>
              <a:t>operation</a:t>
            </a:r>
            <a:r>
              <a:rPr>
                <a:latin typeface="Courier"/>
              </a:rPr>
              <a:t>()</a:t>
            </a:r>
            <a:r>
              <a:rPr>
                <a:solidFill>
                  <a:srgbClr val="4070A0"/>
                </a:solidFill>
                <a:latin typeface="Courier"/>
              </a:rPr>
              <a:t>})`</a:t>
            </a:r>
            <a:r>
              <a:rPr>
                <a:solidFill>
                  <a:srgbClr val="666666"/>
                </a:solidFill>
                <a:latin typeface="Courier"/>
              </a:rPr>
              <a:t>;</a:t>
            </a:r>
            <a:br/>
            <a:r>
              <a:rPr>
                <a:latin typeface="Courier"/>
              </a:rPr>
              <a:t>    }</a:t>
            </a:r>
            <a:br/>
            <a:r>
              <a:rPr>
                <a:latin typeface="Courie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Fachada (Facade)</a:t>
            </a:r>
          </a:p>
          <a:p>
            <a:pPr lvl="0" indent="0" marL="0">
              <a:buNone/>
            </a:pPr>
            <a:r>
              <a:rPr/>
              <a:t>Proporciona una interfaz unificada para un conjunto de interfaces en un subsistema. Define una interfaz de nivel superior que hace que el subsistema sea más fácil de usar. Es útil cuando se necesita una interfaz simplificada para un subsistema complejo.</a:t>
            </a:r>
          </a:p>
          <a:p>
            <a:pPr lvl="0" indent="0">
              <a:buNone/>
            </a:pPr>
            <a:r>
              <a:rPr b="1">
                <a:solidFill>
                  <a:srgbClr val="007020"/>
                </a:solidFill>
                <a:latin typeface="Courier"/>
              </a:rPr>
              <a:t>class</a:t>
            </a:r>
            <a:r>
              <a:rPr>
                <a:latin typeface="Courier"/>
              </a:rPr>
              <a:t> Subsystem1 {</a:t>
            </a:r>
            <a:br/>
            <a:r>
              <a:rPr>
                <a:latin typeface="Courier"/>
              </a:rPr>
              <a:t>    </a:t>
            </a:r>
            <a:r>
              <a:rPr b="1">
                <a:solidFill>
                  <a:srgbClr val="007020"/>
                </a:solidFill>
                <a:latin typeface="Courier"/>
              </a:rPr>
              <a:t>public</a:t>
            </a:r>
            <a:r>
              <a:rPr>
                <a:latin typeface="Courier"/>
              </a:rPr>
              <a:t> </a:t>
            </a:r>
            <a:r>
              <a:rPr>
                <a:solidFill>
                  <a:srgbClr val="06287E"/>
                </a:solidFill>
                <a:latin typeface="Courier"/>
              </a:rPr>
              <a:t>operation1</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'Subsystem1: Ready!'</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operationN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'Subsystem1: Go!'</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Subsystem2 {</a:t>
            </a:r>
            <a:br/>
            <a:r>
              <a:rPr>
                <a:latin typeface="Courier"/>
              </a:rPr>
              <a:t>    </a:t>
            </a:r>
            <a:r>
              <a:rPr b="1">
                <a:solidFill>
                  <a:srgbClr val="007020"/>
                </a:solidFill>
                <a:latin typeface="Courier"/>
              </a:rPr>
              <a:t>public</a:t>
            </a:r>
            <a:r>
              <a:rPr>
                <a:latin typeface="Courier"/>
              </a:rPr>
              <a:t> </a:t>
            </a:r>
            <a:r>
              <a:rPr>
                <a:solidFill>
                  <a:srgbClr val="06287E"/>
                </a:solidFill>
                <a:latin typeface="Courier"/>
              </a:rPr>
              <a:t>operation1</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'Subsystem2: Get ready!'</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operationZ</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'Subsystem2: Fire!'</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Facade {</a:t>
            </a:r>
            <a:br/>
            <a:r>
              <a:rPr>
                <a:latin typeface="Courier"/>
              </a:rPr>
              <a:t>    </a:t>
            </a:r>
            <a:r>
              <a:rPr b="1">
                <a:solidFill>
                  <a:srgbClr val="007020"/>
                </a:solidFill>
                <a:latin typeface="Courier"/>
              </a:rPr>
              <a:t>protected</a:t>
            </a:r>
            <a:r>
              <a:rPr>
                <a:latin typeface="Courier"/>
              </a:rPr>
              <a:t> subsystem1</a:t>
            </a:r>
            <a:r>
              <a:rPr>
                <a:solidFill>
                  <a:srgbClr val="666666"/>
                </a:solidFill>
                <a:latin typeface="Courier"/>
              </a:rPr>
              <a:t>:</a:t>
            </a:r>
            <a:r>
              <a:rPr>
                <a:latin typeface="Courier"/>
              </a:rPr>
              <a:t> Subsystem1</a:t>
            </a:r>
            <a:r>
              <a:rPr>
                <a:solidFill>
                  <a:srgbClr val="666666"/>
                </a:solidFill>
                <a:latin typeface="Courier"/>
              </a:rPr>
              <a:t>;</a:t>
            </a:r>
            <a:br/>
            <a:r>
              <a:rPr>
                <a:latin typeface="Courier"/>
              </a:rPr>
              <a:t>    </a:t>
            </a:r>
            <a:r>
              <a:rPr b="1">
                <a:solidFill>
                  <a:srgbClr val="007020"/>
                </a:solidFill>
                <a:latin typeface="Courier"/>
              </a:rPr>
              <a:t>protected</a:t>
            </a:r>
            <a:r>
              <a:rPr>
                <a:latin typeface="Courier"/>
              </a:rPr>
              <a:t> subsystem2</a:t>
            </a:r>
            <a:r>
              <a:rPr>
                <a:solidFill>
                  <a:srgbClr val="666666"/>
                </a:solidFill>
                <a:latin typeface="Courier"/>
              </a:rPr>
              <a:t>:</a:t>
            </a:r>
            <a:r>
              <a:rPr>
                <a:latin typeface="Courier"/>
              </a:rPr>
              <a:t> Subsystem2</a:t>
            </a:r>
            <a:r>
              <a:rPr>
                <a:solidFill>
                  <a:srgbClr val="666666"/>
                </a:solidFill>
                <a:latin typeface="Courier"/>
              </a:rPr>
              <a:t>;</a:t>
            </a:r>
            <a:br/>
            <a:br/>
            <a:r>
              <a:rPr>
                <a:latin typeface="Courier"/>
              </a:rPr>
              <a:t>    </a:t>
            </a:r>
            <a:r>
              <a:rPr b="1">
                <a:solidFill>
                  <a:srgbClr val="007020"/>
                </a:solidFill>
                <a:latin typeface="Courier"/>
              </a:rPr>
              <a:t>constructor</a:t>
            </a:r>
            <a:r>
              <a:rPr>
                <a:latin typeface="Courier"/>
              </a:rPr>
              <a:t>(subsystem1</a:t>
            </a:r>
            <a:r>
              <a:rPr>
                <a:solidFill>
                  <a:srgbClr val="666666"/>
                </a:solidFill>
                <a:latin typeface="Courier"/>
              </a:rPr>
              <a:t>:</a:t>
            </a:r>
            <a:r>
              <a:rPr>
                <a:latin typeface="Courier"/>
              </a:rPr>
              <a:t> Subsystem1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subsystem2</a:t>
            </a:r>
            <a:r>
              <a:rPr>
                <a:solidFill>
                  <a:srgbClr val="666666"/>
                </a:solidFill>
                <a:latin typeface="Courier"/>
              </a:rPr>
              <a:t>:</a:t>
            </a:r>
            <a:r>
              <a:rPr>
                <a:latin typeface="Courier"/>
              </a:rPr>
              <a:t> Subsystem2 </a:t>
            </a:r>
            <a:r>
              <a:rPr>
                <a:solidFill>
                  <a:srgbClr val="666666"/>
                </a:solidFill>
                <a:latin typeface="Courier"/>
              </a:rPr>
              <a:t>=</a:t>
            </a:r>
            <a:r>
              <a:rPr>
                <a:latin typeface="Courier"/>
              </a:rPr>
              <a:t> </a:t>
            </a:r>
            <a:r>
              <a:rPr b="1">
                <a:solidFill>
                  <a:srgbClr val="007020"/>
                </a:solidFill>
                <a:latin typeface="Courier"/>
              </a:rPr>
              <a:t>null</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subsystem1</a:t>
            </a:r>
            <a:r>
              <a:rPr>
                <a:latin typeface="Courier"/>
              </a:rPr>
              <a:t> </a:t>
            </a:r>
            <a:r>
              <a:rPr>
                <a:solidFill>
                  <a:srgbClr val="666666"/>
                </a:solidFill>
                <a:latin typeface="Courier"/>
              </a:rPr>
              <a:t>=</a:t>
            </a:r>
            <a:r>
              <a:rPr>
                <a:latin typeface="Courier"/>
              </a:rPr>
              <a:t> subsystem1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Subsystem1</a:t>
            </a:r>
            <a:r>
              <a:rPr>
                <a:latin typeface="Courier"/>
              </a:rPr>
              <a:t>()</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subsystem2</a:t>
            </a:r>
            <a:r>
              <a:rPr>
                <a:latin typeface="Courier"/>
              </a:rPr>
              <a:t> </a:t>
            </a:r>
            <a:r>
              <a:rPr>
                <a:solidFill>
                  <a:srgbClr val="666666"/>
                </a:solidFill>
                <a:latin typeface="Courier"/>
              </a:rPr>
              <a:t>=</a:t>
            </a:r>
            <a:r>
              <a:rPr>
                <a:latin typeface="Courier"/>
              </a:rPr>
              <a:t> subsystem2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Subsystem2</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operation</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let</a:t>
            </a:r>
            <a:r>
              <a:rPr>
                <a:latin typeface="Courier"/>
              </a:rPr>
              <a:t> result </a:t>
            </a:r>
            <a:r>
              <a:rPr>
                <a:solidFill>
                  <a:srgbClr val="666666"/>
                </a:solidFill>
                <a:latin typeface="Courier"/>
              </a:rPr>
              <a:t>=</a:t>
            </a:r>
            <a:r>
              <a:rPr>
                <a:latin typeface="Courier"/>
              </a:rPr>
              <a:t> </a:t>
            </a:r>
            <a:r>
              <a:rPr>
                <a:solidFill>
                  <a:srgbClr val="4070A0"/>
                </a:solidFill>
                <a:latin typeface="Courier"/>
              </a:rPr>
              <a:t>'Facade initializes subsystems:\n'</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subsystem1</a:t>
            </a:r>
            <a:r>
              <a:rPr>
                <a:solidFill>
                  <a:srgbClr val="666666"/>
                </a:solidFill>
                <a:latin typeface="Courier"/>
              </a:rPr>
              <a:t>.</a:t>
            </a:r>
            <a:r>
              <a:rPr>
                <a:solidFill>
                  <a:srgbClr val="06287E"/>
                </a:solidFill>
                <a:latin typeface="Courier"/>
              </a:rPr>
              <a:t>operation1</a:t>
            </a:r>
            <a:r>
              <a:rPr>
                <a:latin typeface="Courier"/>
              </a:rPr>
              <a:t>()</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subsystem2</a:t>
            </a:r>
            <a:r>
              <a:rPr>
                <a:solidFill>
                  <a:srgbClr val="666666"/>
                </a:solidFill>
                <a:latin typeface="Courier"/>
              </a:rPr>
              <a:t>.</a:t>
            </a:r>
            <a:r>
              <a:rPr>
                <a:solidFill>
                  <a:srgbClr val="06287E"/>
                </a:solidFill>
                <a:latin typeface="Courier"/>
              </a:rPr>
              <a:t>operation1</a:t>
            </a:r>
            <a:r>
              <a:rPr>
                <a:latin typeface="Courier"/>
              </a:rPr>
              <a:t>()</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a:solidFill>
                  <a:srgbClr val="4070A0"/>
                </a:solidFill>
                <a:latin typeface="Courier"/>
              </a:rPr>
              <a:t>'Facade orders subsystems to perform the action:\n'</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subsystem1</a:t>
            </a:r>
            <a:r>
              <a:rPr>
                <a:solidFill>
                  <a:srgbClr val="666666"/>
                </a:solidFill>
                <a:latin typeface="Courier"/>
              </a:rPr>
              <a:t>.</a:t>
            </a:r>
            <a:r>
              <a:rPr>
                <a:solidFill>
                  <a:srgbClr val="06287E"/>
                </a:solidFill>
                <a:latin typeface="Courier"/>
              </a:rPr>
              <a:t>operationN</a:t>
            </a:r>
            <a:r>
              <a:rPr>
                <a:latin typeface="Courier"/>
              </a:rPr>
              <a:t>()</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subsystem2</a:t>
            </a:r>
            <a:r>
              <a:rPr>
                <a:solidFill>
                  <a:srgbClr val="666666"/>
                </a:solidFill>
                <a:latin typeface="Courier"/>
              </a:rPr>
              <a:t>.</a:t>
            </a:r>
            <a:r>
              <a:rPr>
                <a:solidFill>
                  <a:srgbClr val="06287E"/>
                </a:solidFill>
                <a:latin typeface="Courier"/>
              </a:rPr>
              <a:t>operationZ</a:t>
            </a:r>
            <a:r>
              <a:rPr>
                <a:latin typeface="Courier"/>
              </a:rPr>
              <a:t>()</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br/>
            <a:r>
              <a:rPr>
                <a:latin typeface="Courier"/>
              </a:rPr>
              <a:t>    }</a:t>
            </a:r>
            <a:br/>
            <a:r>
              <a:rPr>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Patrones de Comportamiento</a:t>
            </a:r>
          </a:p>
        </p:txBody>
      </p:sp>
      <p:sp>
        <p:nvSpPr>
          <p:cNvPr id="3" name="Content Placeholder 2"/>
          <p:cNvSpPr>
            <a:spLocks noGrp="1"/>
          </p:cNvSpPr>
          <p:nvPr>
            <p:ph idx="1"/>
          </p:nvPr>
        </p:nvSpPr>
        <p:spPr/>
        <p:txBody>
          <a:bodyPr/>
          <a:lstStyle/>
          <a:p>
            <a:pPr lvl="0" indent="0" marL="0">
              <a:spcBef>
                <a:spcPts val="3000"/>
              </a:spcBef>
              <a:buNone/>
            </a:pPr>
            <a:r>
              <a:rPr b="1"/>
              <a:t>Observador (Observer)</a:t>
            </a:r>
          </a:p>
          <a:p>
            <a:pPr lvl="0" indent="0" marL="0">
              <a:buNone/>
            </a:pPr>
            <a:r>
              <a:rPr/>
              <a:t>Define una dependencia uno a muchos entre objetos, de modo que cuando un objeto cambia de estado, todos sus dependientes son notificados y actualizados automáticamente. Es útil cuando un objeto debe notificar a otros objetos sin conocerlos explícitamente.</a:t>
            </a:r>
          </a:p>
          <a:p>
            <a:pPr lvl="0" indent="0">
              <a:buNone/>
            </a:pPr>
            <a:r>
              <a:rPr b="1">
                <a:solidFill>
                  <a:srgbClr val="007020"/>
                </a:solidFill>
                <a:latin typeface="Courier"/>
              </a:rPr>
              <a:t>interface</a:t>
            </a:r>
            <a:r>
              <a:rPr>
                <a:latin typeface="Courier"/>
              </a:rPr>
              <a:t> Observer {</a:t>
            </a:r>
            <a:br/>
            <a:r>
              <a:rPr>
                <a:latin typeface="Courier"/>
              </a:rPr>
              <a:t>    </a:t>
            </a:r>
            <a:r>
              <a:rPr>
                <a:solidFill>
                  <a:srgbClr val="06287E"/>
                </a:solidFill>
                <a:latin typeface="Courier"/>
              </a:rPr>
              <a:t>update</a:t>
            </a:r>
            <a:r>
              <a:rPr>
                <a:latin typeface="Courier"/>
              </a:rPr>
              <a:t>(subject</a:t>
            </a:r>
            <a:r>
              <a:rPr>
                <a:solidFill>
                  <a:srgbClr val="666666"/>
                </a:solidFill>
                <a:latin typeface="Courier"/>
              </a:rPr>
              <a:t>:</a:t>
            </a:r>
            <a:r>
              <a:rPr>
                <a:latin typeface="Courier"/>
              </a:rPr>
              <a:t> Subject)</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a:t>
            </a:r>
            <a:br/>
            <a:br/>
            <a:r>
              <a:rPr b="1">
                <a:solidFill>
                  <a:srgbClr val="007020"/>
                </a:solidFill>
                <a:latin typeface="Courier"/>
              </a:rPr>
              <a:t>class</a:t>
            </a:r>
            <a:r>
              <a:rPr>
                <a:latin typeface="Courier"/>
              </a:rPr>
              <a:t> ConcreteObserver </a:t>
            </a:r>
            <a:r>
              <a:rPr b="1">
                <a:solidFill>
                  <a:srgbClr val="007020"/>
                </a:solidFill>
                <a:latin typeface="Courier"/>
              </a:rPr>
              <a:t>implements</a:t>
            </a:r>
            <a:r>
              <a:rPr>
                <a:latin typeface="Courier"/>
              </a:rPr>
              <a:t> Observer {</a:t>
            </a:r>
            <a:br/>
            <a:r>
              <a:rPr>
                <a:latin typeface="Courier"/>
              </a:rPr>
              <a:t>    </a:t>
            </a:r>
            <a:r>
              <a:rPr b="1">
                <a:solidFill>
                  <a:srgbClr val="007020"/>
                </a:solidFill>
                <a:latin typeface="Courier"/>
              </a:rPr>
              <a:t>public</a:t>
            </a:r>
            <a:r>
              <a:rPr>
                <a:latin typeface="Courier"/>
              </a:rPr>
              <a:t> </a:t>
            </a:r>
            <a:r>
              <a:rPr>
                <a:solidFill>
                  <a:srgbClr val="06287E"/>
                </a:solidFill>
                <a:latin typeface="Courier"/>
              </a:rPr>
              <a:t>update</a:t>
            </a:r>
            <a:r>
              <a:rPr>
                <a:latin typeface="Courier"/>
              </a:rPr>
              <a:t>(subject</a:t>
            </a:r>
            <a:r>
              <a:rPr>
                <a:solidFill>
                  <a:srgbClr val="666666"/>
                </a:solidFill>
                <a:latin typeface="Courier"/>
              </a:rPr>
              <a:t>:</a:t>
            </a:r>
            <a:r>
              <a:rPr>
                <a:latin typeface="Courier"/>
              </a:rPr>
              <a:t> Subject)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if</a:t>
            </a:r>
            <a:r>
              <a:rPr>
                <a:latin typeface="Courier"/>
              </a:rPr>
              <a:t> (subject</a:t>
            </a:r>
            <a:r>
              <a:rPr>
                <a:solidFill>
                  <a:srgbClr val="666666"/>
                </a:solidFill>
                <a:latin typeface="Courier"/>
              </a:rPr>
              <a:t>.</a:t>
            </a:r>
            <a:r>
              <a:rPr>
                <a:solidFill>
                  <a:srgbClr val="7D9029"/>
                </a:solidFill>
                <a:latin typeface="Courier"/>
              </a:rPr>
              <a:t>state</a:t>
            </a:r>
            <a:r>
              <a:rPr>
                <a:latin typeface="Courier"/>
              </a:rPr>
              <a:t> </a:t>
            </a:r>
            <a:r>
              <a:rPr>
                <a:solidFill>
                  <a:srgbClr val="666666"/>
                </a:solidFill>
                <a:latin typeface="Courier"/>
              </a:rPr>
              <a:t>&lt;</a:t>
            </a:r>
            <a:r>
              <a:rPr>
                <a:latin typeface="Courier"/>
              </a:rPr>
              <a:t> </a:t>
            </a:r>
            <a:r>
              <a:rPr>
                <a:solidFill>
                  <a:srgbClr val="40A070"/>
                </a:solidFill>
                <a:latin typeface="Courier"/>
              </a:rPr>
              <a:t>3</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'ConcreteObserver: Reacted to the event.'</a:t>
            </a:r>
            <a:r>
              <a:rPr>
                <a:latin typeface="Courier"/>
              </a:rPr>
              <a:t>)</a:t>
            </a:r>
            <a:r>
              <a:rPr>
                <a:solidFill>
                  <a:srgbClr val="666666"/>
                </a:solidFill>
                <a:latin typeface="Courier"/>
              </a:rPr>
              <a:t>;</a:t>
            </a:r>
            <a:br/>
            <a:r>
              <a:rPr>
                <a:latin typeface="Courier"/>
              </a:rPr>
              <a:t>        }</a:t>
            </a:r>
            <a:br/>
            <a:r>
              <a:rPr>
                <a:latin typeface="Courier"/>
              </a:rPr>
              <a:t>    }</a:t>
            </a:r>
            <a:br/>
            <a:r>
              <a:rPr>
                <a:latin typeface="Courier"/>
              </a:rPr>
              <a:t>}</a:t>
            </a:r>
            <a:br/>
            <a:br/>
            <a:r>
              <a:rPr b="1">
                <a:solidFill>
                  <a:srgbClr val="007020"/>
                </a:solidFill>
                <a:latin typeface="Courier"/>
              </a:rPr>
              <a:t>interface</a:t>
            </a:r>
            <a:r>
              <a:rPr>
                <a:latin typeface="Courier"/>
              </a:rPr>
              <a:t> Subject {</a:t>
            </a:r>
            <a:br/>
            <a:r>
              <a:rPr>
                <a:latin typeface="Courier"/>
              </a:rPr>
              <a:t>    </a:t>
            </a:r>
            <a:r>
              <a:rPr>
                <a:solidFill>
                  <a:srgbClr val="06287E"/>
                </a:solidFill>
                <a:latin typeface="Courier"/>
              </a:rPr>
              <a:t>attach</a:t>
            </a:r>
            <a:r>
              <a:rPr>
                <a:latin typeface="Courier"/>
              </a:rPr>
              <a:t>(observer</a:t>
            </a:r>
            <a:r>
              <a:rPr>
                <a:solidFill>
                  <a:srgbClr val="666666"/>
                </a:solidFill>
                <a:latin typeface="Courier"/>
              </a:rPr>
              <a:t>:</a:t>
            </a:r>
            <a:r>
              <a:rPr>
                <a:latin typeface="Courier"/>
              </a:rPr>
              <a:t> Observer)</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    </a:t>
            </a:r>
            <a:r>
              <a:rPr>
                <a:solidFill>
                  <a:srgbClr val="06287E"/>
                </a:solidFill>
                <a:latin typeface="Courier"/>
              </a:rPr>
              <a:t>detach</a:t>
            </a:r>
            <a:r>
              <a:rPr>
                <a:latin typeface="Courier"/>
              </a:rPr>
              <a:t>(observer</a:t>
            </a:r>
            <a:r>
              <a:rPr>
                <a:solidFill>
                  <a:srgbClr val="666666"/>
                </a:solidFill>
                <a:latin typeface="Courier"/>
              </a:rPr>
              <a:t>:</a:t>
            </a:r>
            <a:r>
              <a:rPr>
                <a:latin typeface="Courier"/>
              </a:rPr>
              <a:t> Observer)</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    </a:t>
            </a:r>
            <a:r>
              <a:rPr>
                <a:solidFill>
                  <a:srgbClr val="06287E"/>
                </a:solidFill>
                <a:latin typeface="Courier"/>
              </a:rPr>
              <a:t>notify</a:t>
            </a:r>
            <a:r>
              <a:rPr>
                <a:latin typeface="Courier"/>
              </a:rPr>
              <a:t>()</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a:t>
            </a:r>
            <a:br/>
            <a:br/>
            <a:r>
              <a:rPr b="1">
                <a:solidFill>
                  <a:srgbClr val="007020"/>
                </a:solidFill>
                <a:latin typeface="Courier"/>
              </a:rPr>
              <a:t>class</a:t>
            </a:r>
            <a:r>
              <a:rPr>
                <a:latin typeface="Courier"/>
              </a:rPr>
              <a:t> ConcreteSubject </a:t>
            </a:r>
            <a:r>
              <a:rPr b="1">
                <a:solidFill>
                  <a:srgbClr val="007020"/>
                </a:solidFill>
                <a:latin typeface="Courier"/>
              </a:rPr>
              <a:t>implements</a:t>
            </a:r>
            <a:r>
              <a:rPr>
                <a:latin typeface="Courier"/>
              </a:rPr>
              <a:t> Subject {</a:t>
            </a:r>
            <a:br/>
            <a:r>
              <a:rPr>
                <a:latin typeface="Courier"/>
              </a:rPr>
              <a:t>    </a:t>
            </a:r>
            <a:r>
              <a:rPr b="1">
                <a:solidFill>
                  <a:srgbClr val="007020"/>
                </a:solidFill>
                <a:latin typeface="Courier"/>
              </a:rPr>
              <a:t>public</a:t>
            </a:r>
            <a:r>
              <a:rPr>
                <a:latin typeface="Courier"/>
              </a:rPr>
              <a:t> state</a:t>
            </a:r>
            <a:r>
              <a:rPr>
                <a:solidFill>
                  <a:srgbClr val="666666"/>
                </a:solidFill>
                <a:latin typeface="Courier"/>
              </a:rPr>
              <a:t>:</a:t>
            </a:r>
            <a:r>
              <a:rPr>
                <a:latin typeface="Courier"/>
              </a:rPr>
              <a:t> </a:t>
            </a:r>
            <a:r>
              <a:rPr>
                <a:solidFill>
                  <a:srgbClr val="902000"/>
                </a:solidFill>
                <a:latin typeface="Courier"/>
              </a:rPr>
              <a:t>number</a:t>
            </a:r>
            <a:r>
              <a:rPr>
                <a:solidFill>
                  <a:srgbClr val="666666"/>
                </a:solidFill>
                <a:latin typeface="Courier"/>
              </a:rPr>
              <a:t>;</a:t>
            </a:r>
            <a:br/>
            <a:r>
              <a:rPr>
                <a:latin typeface="Courier"/>
              </a:rPr>
              <a:t>    </a:t>
            </a:r>
            <a:r>
              <a:rPr b="1">
                <a:solidFill>
                  <a:srgbClr val="007020"/>
                </a:solidFill>
                <a:latin typeface="Courier"/>
              </a:rPr>
              <a:t>private</a:t>
            </a:r>
            <a:r>
              <a:rPr>
                <a:latin typeface="Courier"/>
              </a:rPr>
              <a:t> observers</a:t>
            </a:r>
            <a:r>
              <a:rPr>
                <a:solidFill>
                  <a:srgbClr val="666666"/>
                </a:solidFill>
                <a:latin typeface="Courier"/>
              </a:rPr>
              <a:t>:</a:t>
            </a:r>
            <a:r>
              <a:rPr>
                <a:latin typeface="Courier"/>
              </a:rPr>
              <a:t> Observer[] </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attach</a:t>
            </a:r>
            <a:r>
              <a:rPr>
                <a:latin typeface="Courier"/>
              </a:rPr>
              <a:t>(observer</a:t>
            </a:r>
            <a:r>
              <a:rPr>
                <a:solidFill>
                  <a:srgbClr val="666666"/>
                </a:solidFill>
                <a:latin typeface="Courier"/>
              </a:rPr>
              <a:t>:</a:t>
            </a:r>
            <a:r>
              <a:rPr>
                <a:latin typeface="Courier"/>
              </a:rPr>
              <a:t> Observer)</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const</a:t>
            </a:r>
            <a:r>
              <a:rPr>
                <a:latin typeface="Courier"/>
              </a:rPr>
              <a:t> isExist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observers</a:t>
            </a:r>
            <a:r>
              <a:rPr>
                <a:solidFill>
                  <a:srgbClr val="666666"/>
                </a:solidFill>
                <a:latin typeface="Courier"/>
              </a:rPr>
              <a:t>.</a:t>
            </a:r>
            <a:r>
              <a:rPr>
                <a:solidFill>
                  <a:srgbClr val="06287E"/>
                </a:solidFill>
                <a:latin typeface="Courier"/>
              </a:rPr>
              <a:t>includes</a:t>
            </a:r>
            <a:r>
              <a:rPr>
                <a:latin typeface="Courier"/>
              </a:rPr>
              <a:t>(observer)</a:t>
            </a:r>
            <a:r>
              <a:rPr>
                <a:solidFill>
                  <a:srgbClr val="666666"/>
                </a:solidFill>
                <a:latin typeface="Courier"/>
              </a:rPr>
              <a:t>;</a:t>
            </a:r>
            <a:br/>
            <a:r>
              <a:rPr>
                <a:latin typeface="Courier"/>
              </a:rPr>
              <a:t>        </a:t>
            </a:r>
            <a:r>
              <a:rPr b="1">
                <a:solidFill>
                  <a:srgbClr val="007020"/>
                </a:solidFill>
                <a:latin typeface="Courier"/>
              </a:rPr>
              <a:t>if</a:t>
            </a:r>
            <a:r>
              <a:rPr>
                <a:latin typeface="Courier"/>
              </a:rPr>
              <a:t> (isExist) {</a:t>
            </a:r>
            <a:br/>
            <a:r>
              <a:rPr>
                <a:latin typeface="Courier"/>
              </a:rPr>
              <a:t>            </a:t>
            </a:r>
            <a:r>
              <a:rPr b="1">
                <a:solidFill>
                  <a:srgbClr val="007020"/>
                </a:solidFill>
                <a:latin typeface="Courier"/>
              </a:rPr>
              <a:t>return</a:t>
            </a: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'Subject: Observer has been attached already.'</a:t>
            </a:r>
            <a:r>
              <a:rPr>
                <a:latin typeface="Courier"/>
              </a:rPr>
              <a:t>)</a:t>
            </a:r>
            <a:r>
              <a:rPr>
                <a:solidFill>
                  <a:srgbClr val="666666"/>
                </a:solidFill>
                <a:latin typeface="Courier"/>
              </a:rPr>
              <a:t>;</a:t>
            </a:r>
            <a:br/>
            <a:r>
              <a:rPr>
                <a:latin typeface="Courier"/>
              </a:rPr>
              <a:t>        }</a:t>
            </a:r>
            <a:b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'Subject: Attached an observer.'</a:t>
            </a:r>
            <a:r>
              <a:rPr>
                <a:latin typeface="Courier"/>
              </a:rPr>
              <a:t>)</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observers</a:t>
            </a:r>
            <a:r>
              <a:rPr>
                <a:solidFill>
                  <a:srgbClr val="666666"/>
                </a:solidFill>
                <a:latin typeface="Courier"/>
              </a:rPr>
              <a:t>.</a:t>
            </a:r>
            <a:r>
              <a:rPr>
                <a:solidFill>
                  <a:srgbClr val="06287E"/>
                </a:solidFill>
                <a:latin typeface="Courier"/>
              </a:rPr>
              <a:t>push</a:t>
            </a:r>
            <a:r>
              <a:rPr>
                <a:latin typeface="Courier"/>
              </a:rPr>
              <a:t>(observer)</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detach</a:t>
            </a:r>
            <a:r>
              <a:rPr>
                <a:latin typeface="Courier"/>
              </a:rPr>
              <a:t>(observer</a:t>
            </a:r>
            <a:r>
              <a:rPr>
                <a:solidFill>
                  <a:srgbClr val="666666"/>
                </a:solidFill>
                <a:latin typeface="Courier"/>
              </a:rPr>
              <a:t>:</a:t>
            </a:r>
            <a:r>
              <a:rPr>
                <a:latin typeface="Courier"/>
              </a:rPr>
              <a:t> Observer)</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const</a:t>
            </a:r>
            <a:r>
              <a:rPr>
                <a:latin typeface="Courier"/>
              </a:rPr>
              <a:t> observerIndex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observers</a:t>
            </a:r>
            <a:r>
              <a:rPr>
                <a:solidFill>
                  <a:srgbClr val="666666"/>
                </a:solidFill>
                <a:latin typeface="Courier"/>
              </a:rPr>
              <a:t>.</a:t>
            </a:r>
            <a:r>
              <a:rPr>
                <a:solidFill>
                  <a:srgbClr val="06287E"/>
                </a:solidFill>
                <a:latin typeface="Courier"/>
              </a:rPr>
              <a:t>indexOf</a:t>
            </a:r>
            <a:r>
              <a:rPr>
                <a:latin typeface="Courier"/>
              </a:rPr>
              <a:t>(observer)</a:t>
            </a:r>
            <a:r>
              <a:rPr>
                <a:solidFill>
                  <a:srgbClr val="666666"/>
                </a:solidFill>
                <a:latin typeface="Courier"/>
              </a:rPr>
              <a:t>;</a:t>
            </a:r>
            <a:br/>
            <a:r>
              <a:rPr>
                <a:latin typeface="Courier"/>
              </a:rPr>
              <a:t>        </a:t>
            </a:r>
            <a:r>
              <a:rPr b="1">
                <a:solidFill>
                  <a:srgbClr val="007020"/>
                </a:solidFill>
                <a:latin typeface="Courier"/>
              </a:rPr>
              <a:t>if</a:t>
            </a:r>
            <a:r>
              <a:rPr>
                <a:latin typeface="Courier"/>
              </a:rPr>
              <a:t> (observerIndex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a:t>
            </a:r>
            <a:r>
              <a:rPr>
                <a:latin typeface="Courier"/>
              </a:rPr>
              <a:t>) {</a:t>
            </a:r>
            <a:br/>
            <a:r>
              <a:rPr>
                <a:latin typeface="Courier"/>
              </a:rPr>
              <a:t>            </a:t>
            </a:r>
            <a:r>
              <a:rPr b="1">
                <a:solidFill>
                  <a:srgbClr val="007020"/>
                </a:solidFill>
                <a:latin typeface="Courier"/>
              </a:rPr>
              <a:t>return</a:t>
            </a: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'Subject: Nonexistent observer.'</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observers</a:t>
            </a:r>
            <a:r>
              <a:rPr>
                <a:solidFill>
                  <a:srgbClr val="666666"/>
                </a:solidFill>
                <a:latin typeface="Courier"/>
              </a:rPr>
              <a:t>.</a:t>
            </a:r>
            <a:r>
              <a:rPr>
                <a:solidFill>
                  <a:srgbClr val="06287E"/>
                </a:solidFill>
                <a:latin typeface="Courier"/>
              </a:rPr>
              <a:t>splice</a:t>
            </a:r>
            <a:r>
              <a:rPr>
                <a:latin typeface="Courier"/>
              </a:rPr>
              <a:t>(observerIndex</a:t>
            </a:r>
            <a:r>
              <a:rPr>
                <a:solidFill>
                  <a:srgbClr val="666666"/>
                </a:solidFill>
                <a:latin typeface="Courier"/>
              </a:rPr>
              <a:t>,</a:t>
            </a:r>
            <a:r>
              <a:rPr>
                <a:latin typeface="Courier"/>
              </a:rPr>
              <a:t> </a:t>
            </a:r>
            <a:r>
              <a:rPr>
                <a:solidFill>
                  <a:srgbClr val="40A070"/>
                </a:solidFill>
                <a:latin typeface="Courier"/>
              </a:rPr>
              <a:t>1</a:t>
            </a:r>
            <a:r>
              <a:rPr>
                <a:latin typeface="Courier"/>
              </a:rPr>
              <a:t>)</a:t>
            </a:r>
            <a:r>
              <a:rPr>
                <a:solidFill>
                  <a:srgbClr val="666666"/>
                </a:solidFill>
                <a:latin typeface="Courier"/>
              </a:rPr>
              <a:t>;</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'Subject: Detached an observer.'</a:t>
            </a:r>
            <a:r>
              <a:rPr>
                <a:latin typeface="Courier"/>
              </a:rPr>
              <a:t>)</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notify</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'Subject: Notifying observers...'</a:t>
            </a:r>
            <a:r>
              <a:rPr>
                <a:latin typeface="Courier"/>
              </a:rPr>
              <a:t>)</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b="1">
                <a:solidFill>
                  <a:srgbClr val="007020"/>
                </a:solidFill>
                <a:latin typeface="Courier"/>
              </a:rPr>
              <a:t>const</a:t>
            </a:r>
            <a:r>
              <a:rPr>
                <a:latin typeface="Courier"/>
              </a:rPr>
              <a:t> observer </a:t>
            </a:r>
            <a:r>
              <a:rPr b="1">
                <a:solidFill>
                  <a:srgbClr val="007020"/>
                </a:solidFill>
                <a:latin typeface="Courier"/>
              </a:rPr>
              <a:t>of</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observers</a:t>
            </a:r>
            <a:r>
              <a:rPr>
                <a:latin typeface="Courier"/>
              </a:rPr>
              <a:t>) {</a:t>
            </a:r>
            <a:br/>
            <a:r>
              <a:rPr>
                <a:latin typeface="Courier"/>
              </a:rPr>
              <a:t>            observer</a:t>
            </a:r>
            <a:r>
              <a:rPr>
                <a:solidFill>
                  <a:srgbClr val="666666"/>
                </a:solidFill>
                <a:latin typeface="Courier"/>
              </a:rPr>
              <a:t>.</a:t>
            </a:r>
            <a:r>
              <a:rPr>
                <a:solidFill>
                  <a:srgbClr val="06287E"/>
                </a:solidFill>
                <a:latin typeface="Courier"/>
              </a:rPr>
              <a:t>update</a:t>
            </a:r>
            <a:r>
              <a:rPr>
                <a:latin typeface="Courier"/>
              </a:rPr>
              <a:t>(</a:t>
            </a:r>
            <a:r>
              <a:rPr b="1">
                <a:solidFill>
                  <a:srgbClr val="007020"/>
                </a:solidFill>
                <a:latin typeface="Courier"/>
              </a:rPr>
              <a:t>this</a:t>
            </a:r>
            <a:r>
              <a:rPr>
                <a:latin typeface="Courier"/>
              </a:rPr>
              <a:t>)</a:t>
            </a:r>
            <a:r>
              <a:rPr>
                <a:solidFill>
                  <a:srgbClr val="666666"/>
                </a:solidFill>
                <a:latin typeface="Courier"/>
              </a:rPr>
              <a:t>;</a:t>
            </a:r>
            <a:br/>
            <a:r>
              <a:rPr>
                <a:latin typeface="Courier"/>
              </a:rPr>
              <a:t>        }</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someBusinessLogic</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'\nSubject: I\'m doing something important.'</a:t>
            </a:r>
            <a:r>
              <a:rPr>
                <a:latin typeface="Courier"/>
              </a:rPr>
              <a:t>)</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state</a:t>
            </a:r>
            <a:r>
              <a:rPr>
                <a:latin typeface="Courier"/>
              </a:rPr>
              <a:t> </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floor</a:t>
            </a:r>
            <a:r>
              <a:rPr>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random</a:t>
            </a:r>
            <a:r>
              <a:rPr>
                <a:latin typeface="Courier"/>
              </a:rPr>
              <a:t>() </a:t>
            </a:r>
            <a:r>
              <a:rPr>
                <a:solidFill>
                  <a:srgbClr val="666666"/>
                </a:solidFill>
                <a:latin typeface="Courier"/>
              </a:rPr>
              <a:t>*</a:t>
            </a:r>
            <a:r>
              <a:rPr>
                <a:latin typeface="Courier"/>
              </a:rPr>
              <a:t> (</a:t>
            </a:r>
            <a:r>
              <a:rPr>
                <a:solidFill>
                  <a:srgbClr val="40A070"/>
                </a:solidFill>
                <a:latin typeface="Courier"/>
              </a:rPr>
              <a:t>10</a:t>
            </a:r>
            <a:r>
              <a:rPr>
                <a:latin typeface="Courier"/>
              </a:rPr>
              <a:t> </a:t>
            </a:r>
            <a:r>
              <a:rPr>
                <a:solidFill>
                  <a:srgbClr val="666666"/>
                </a:solidFill>
                <a:latin typeface="Courier"/>
              </a:rPr>
              <a:t>+</a:t>
            </a:r>
            <a:r>
              <a:rPr>
                <a:latin typeface="Courier"/>
              </a:rPr>
              <a:t> </a:t>
            </a:r>
            <a:r>
              <a:rPr>
                <a:solidFill>
                  <a:srgbClr val="40A070"/>
                </a:solidFill>
                <a:latin typeface="Courier"/>
              </a:rPr>
              <a:t>1</a:t>
            </a:r>
            <a:r>
              <a:rPr>
                <a:latin typeface="Courier"/>
              </a:rPr>
              <a:t>))</a:t>
            </a:r>
            <a:r>
              <a:rPr>
                <a:solidFill>
                  <a:srgbClr val="666666"/>
                </a:solidFill>
                <a:latin typeface="Courier"/>
              </a:rPr>
              <a:t>;</a:t>
            </a:r>
            <a:b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`Subject: My state has just changed to: ${</a:t>
            </a:r>
            <a:r>
              <a:rPr b="1">
                <a:solidFill>
                  <a:srgbClr val="007020"/>
                </a:solidFill>
                <a:latin typeface="Courier"/>
              </a:rPr>
              <a:t>this</a:t>
            </a:r>
            <a:r>
              <a:rPr>
                <a:solidFill>
                  <a:srgbClr val="666666"/>
                </a:solidFill>
                <a:latin typeface="Courier"/>
              </a:rPr>
              <a:t>.</a:t>
            </a:r>
            <a:r>
              <a:rPr>
                <a:solidFill>
                  <a:srgbClr val="7D9029"/>
                </a:solidFill>
                <a:latin typeface="Courier"/>
              </a:rPr>
              <a:t>state</a:t>
            </a:r>
            <a:r>
              <a:rPr>
                <a:solidFill>
                  <a:srgbClr val="4070A0"/>
                </a:solidFill>
                <a:latin typeface="Courier"/>
              </a:rPr>
              <a:t>}`</a:t>
            </a:r>
            <a:r>
              <a:rPr>
                <a:latin typeface="Courier"/>
              </a:rPr>
              <a:t>)</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notify</a:t>
            </a:r>
            <a:r>
              <a:rPr>
                <a:latin typeface="Courier"/>
              </a:rPr>
              <a:t>()</a:t>
            </a:r>
            <a:r>
              <a:rPr>
                <a:solidFill>
                  <a:srgbClr val="666666"/>
                </a:solidFill>
                <a:latin typeface="Courier"/>
              </a:rPr>
              <a:t>;</a:t>
            </a:r>
            <a:br/>
            <a:r>
              <a:rPr>
                <a:latin typeface="Courier"/>
              </a:rPr>
              <a:t>    }</a:t>
            </a:r>
            <a:br/>
            <a:r>
              <a:rPr>
                <a:latin typeface="Courier"/>
              </a:rPr>
              <a: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Estrategia (Strategy)</a:t>
            </a:r>
          </a:p>
          <a:p>
            <a:pPr lvl="0" indent="0" marL="0">
              <a:buNone/>
            </a:pPr>
            <a:r>
              <a:rPr/>
              <a:t>Define una familia de algoritmos, encapsula cada uno de ellos y los hace intercambiables. Permite que el algoritmo varíe independientemente de los clientes que lo utilizan. Es útil cuando se necesita seleccionar un algoritmo de una familia de algoritmos en tiempo de ejecución.</a:t>
            </a:r>
          </a:p>
          <a:p>
            <a:pPr lvl="0" indent="0">
              <a:buNone/>
            </a:pPr>
            <a:r>
              <a:rPr b="1">
                <a:solidFill>
                  <a:srgbClr val="007020"/>
                </a:solidFill>
                <a:latin typeface="Courier"/>
              </a:rPr>
              <a:t>interface</a:t>
            </a:r>
            <a:r>
              <a:rPr>
                <a:latin typeface="Courier"/>
              </a:rPr>
              <a:t> Strategy {</a:t>
            </a:r>
            <a:br/>
            <a:r>
              <a:rPr>
                <a:latin typeface="Courier"/>
              </a:rPr>
              <a:t>    </a:t>
            </a:r>
            <a:r>
              <a:rPr>
                <a:solidFill>
                  <a:srgbClr val="06287E"/>
                </a:solidFill>
                <a:latin typeface="Courier"/>
              </a:rPr>
              <a:t>execute</a:t>
            </a:r>
            <a:r>
              <a:rPr>
                <a:latin typeface="Courier"/>
              </a:rPr>
              <a:t>(data</a:t>
            </a:r>
            <a:r>
              <a:rPr>
                <a:solidFill>
                  <a:srgbClr val="666666"/>
                </a:solidFill>
                <a:latin typeface="Courier"/>
              </a:rPr>
              <a:t>:</a:t>
            </a:r>
            <a:r>
              <a:rPr>
                <a:latin typeface="Courier"/>
              </a:rPr>
              <a:t> </a:t>
            </a:r>
            <a:r>
              <a:rPr>
                <a:solidFill>
                  <a:srgbClr val="902000"/>
                </a:solidFill>
                <a:latin typeface="Courier"/>
              </a:rPr>
              <a:t>string</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r>
              <a:rPr>
                <a:latin typeface="Courier"/>
              </a:rPr>
              <a:t>}</a:t>
            </a:r>
            <a:br/>
            <a:br/>
            <a:r>
              <a:rPr b="1">
                <a:solidFill>
                  <a:srgbClr val="007020"/>
                </a:solidFill>
                <a:latin typeface="Courier"/>
              </a:rPr>
              <a:t>class</a:t>
            </a:r>
            <a:r>
              <a:rPr>
                <a:latin typeface="Courier"/>
              </a:rPr>
              <a:t> ConcreteStrategyA </a:t>
            </a:r>
            <a:r>
              <a:rPr b="1">
                <a:solidFill>
                  <a:srgbClr val="007020"/>
                </a:solidFill>
                <a:latin typeface="Courier"/>
              </a:rPr>
              <a:t>implements</a:t>
            </a:r>
            <a:r>
              <a:rPr>
                <a:latin typeface="Courier"/>
              </a:rPr>
              <a:t> Strategy {</a:t>
            </a:r>
            <a:br/>
            <a:r>
              <a:rPr>
                <a:latin typeface="Courier"/>
              </a:rPr>
              <a:t>    </a:t>
            </a:r>
            <a:r>
              <a:rPr b="1">
                <a:solidFill>
                  <a:srgbClr val="007020"/>
                </a:solidFill>
                <a:latin typeface="Courier"/>
              </a:rPr>
              <a:t>public</a:t>
            </a:r>
            <a:r>
              <a:rPr>
                <a:latin typeface="Courier"/>
              </a:rPr>
              <a:t> </a:t>
            </a:r>
            <a:r>
              <a:rPr>
                <a:solidFill>
                  <a:srgbClr val="06287E"/>
                </a:solidFill>
                <a:latin typeface="Courier"/>
              </a:rPr>
              <a:t>execute</a:t>
            </a:r>
            <a:r>
              <a:rPr>
                <a:latin typeface="Courier"/>
              </a:rPr>
              <a:t>(data</a:t>
            </a:r>
            <a:r>
              <a:rPr>
                <a:solidFill>
                  <a:srgbClr val="666666"/>
                </a:solidFill>
                <a:latin typeface="Courier"/>
              </a:rPr>
              <a:t>:</a:t>
            </a:r>
            <a:r>
              <a:rPr>
                <a:latin typeface="Courier"/>
              </a:rPr>
              <a:t> </a:t>
            </a:r>
            <a:r>
              <a:rPr>
                <a:solidFill>
                  <a:srgbClr val="902000"/>
                </a:solidFill>
                <a:latin typeface="Courier"/>
              </a:rPr>
              <a:t>string</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`ResultA: ${</a:t>
            </a:r>
            <a:r>
              <a:rPr>
                <a:latin typeface="Courier"/>
              </a:rPr>
              <a:t>data</a:t>
            </a:r>
            <a:r>
              <a:rPr>
                <a:solidFill>
                  <a:srgbClr val="666666"/>
                </a:solidFill>
                <a:latin typeface="Courier"/>
              </a:rPr>
              <a:t>.</a:t>
            </a:r>
            <a:r>
              <a:rPr>
                <a:solidFill>
                  <a:srgbClr val="06287E"/>
                </a:solidFill>
                <a:latin typeface="Courier"/>
              </a:rPr>
              <a:t>sort</a:t>
            </a:r>
            <a:r>
              <a:rPr>
                <a:latin typeface="Courier"/>
              </a:rPr>
              <a:t>()</a:t>
            </a:r>
            <a:r>
              <a:rPr>
                <a:solidFill>
                  <a:srgbClr val="666666"/>
                </a:solidFill>
                <a:latin typeface="Courier"/>
              </a:rPr>
              <a:t>.</a:t>
            </a:r>
            <a:r>
              <a:rPr>
                <a:solidFill>
                  <a:srgbClr val="06287E"/>
                </a:solidFill>
                <a:latin typeface="Courier"/>
              </a:rPr>
              <a:t>join</a:t>
            </a:r>
            <a:r>
              <a:rPr>
                <a:latin typeface="Courier"/>
              </a:rPr>
              <a:t>(</a:t>
            </a:r>
            <a:r>
              <a:rPr>
                <a:solidFill>
                  <a:srgbClr val="4070A0"/>
                </a:solidFill>
                <a:latin typeface="Courier"/>
              </a:rPr>
              <a:t>','</a:t>
            </a:r>
            <a:r>
              <a:rPr>
                <a:latin typeface="Courier"/>
              </a:rPr>
              <a:t>)</a:t>
            </a:r>
            <a:r>
              <a:rPr>
                <a:solidFill>
                  <a:srgbClr val="4070A0"/>
                </a:solidFill>
                <a:latin typeface="Courier"/>
              </a:rPr>
              <a:t>}`</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ConcreteStrategyB </a:t>
            </a:r>
            <a:r>
              <a:rPr b="1">
                <a:solidFill>
                  <a:srgbClr val="007020"/>
                </a:solidFill>
                <a:latin typeface="Courier"/>
              </a:rPr>
              <a:t>implements</a:t>
            </a:r>
            <a:r>
              <a:rPr>
                <a:latin typeface="Courier"/>
              </a:rPr>
              <a:t> Strategy {</a:t>
            </a:r>
            <a:br/>
            <a:r>
              <a:rPr>
                <a:latin typeface="Courier"/>
              </a:rPr>
              <a:t>    </a:t>
            </a:r>
            <a:r>
              <a:rPr b="1">
                <a:solidFill>
                  <a:srgbClr val="007020"/>
                </a:solidFill>
                <a:latin typeface="Courier"/>
              </a:rPr>
              <a:t>public</a:t>
            </a:r>
            <a:r>
              <a:rPr>
                <a:latin typeface="Courier"/>
              </a:rPr>
              <a:t> </a:t>
            </a:r>
            <a:r>
              <a:rPr>
                <a:solidFill>
                  <a:srgbClr val="06287E"/>
                </a:solidFill>
                <a:latin typeface="Courier"/>
              </a:rPr>
              <a:t>execute</a:t>
            </a:r>
            <a:r>
              <a:rPr>
                <a:latin typeface="Courier"/>
              </a:rPr>
              <a:t>(data</a:t>
            </a:r>
            <a:r>
              <a:rPr>
                <a:solidFill>
                  <a:srgbClr val="666666"/>
                </a:solidFill>
                <a:latin typeface="Courier"/>
              </a:rPr>
              <a:t>:</a:t>
            </a:r>
            <a:r>
              <a:rPr>
                <a:latin typeface="Courier"/>
              </a:rPr>
              <a:t> </a:t>
            </a:r>
            <a:r>
              <a:rPr>
                <a:solidFill>
                  <a:srgbClr val="902000"/>
                </a:solidFill>
                <a:latin typeface="Courier"/>
              </a:rPr>
              <a:t>string</a:t>
            </a:r>
            <a:r>
              <a:rPr>
                <a:latin typeface="Courier"/>
              </a:rPr>
              <a:t>[])</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return</a:t>
            </a:r>
            <a:r>
              <a:rPr>
                <a:latin typeface="Courier"/>
              </a:rPr>
              <a:t> </a:t>
            </a:r>
            <a:r>
              <a:rPr>
                <a:solidFill>
                  <a:srgbClr val="4070A0"/>
                </a:solidFill>
                <a:latin typeface="Courier"/>
              </a:rPr>
              <a:t>`ResultB: ${</a:t>
            </a:r>
            <a:r>
              <a:rPr>
                <a:latin typeface="Courier"/>
              </a:rPr>
              <a:t>data</a:t>
            </a:r>
            <a:r>
              <a:rPr>
                <a:solidFill>
                  <a:srgbClr val="666666"/>
                </a:solidFill>
                <a:latin typeface="Courier"/>
              </a:rPr>
              <a:t>.</a:t>
            </a:r>
            <a:r>
              <a:rPr>
                <a:solidFill>
                  <a:srgbClr val="06287E"/>
                </a:solidFill>
                <a:latin typeface="Courier"/>
              </a:rPr>
              <a:t>reverse</a:t>
            </a:r>
            <a:r>
              <a:rPr>
                <a:latin typeface="Courier"/>
              </a:rPr>
              <a:t>()</a:t>
            </a:r>
            <a:r>
              <a:rPr>
                <a:solidFill>
                  <a:srgbClr val="666666"/>
                </a:solidFill>
                <a:latin typeface="Courier"/>
              </a:rPr>
              <a:t>.</a:t>
            </a:r>
            <a:r>
              <a:rPr>
                <a:solidFill>
                  <a:srgbClr val="06287E"/>
                </a:solidFill>
                <a:latin typeface="Courier"/>
              </a:rPr>
              <a:t>join</a:t>
            </a:r>
            <a:r>
              <a:rPr>
                <a:latin typeface="Courier"/>
              </a:rPr>
              <a:t>(</a:t>
            </a:r>
            <a:r>
              <a:rPr>
                <a:solidFill>
                  <a:srgbClr val="4070A0"/>
                </a:solidFill>
                <a:latin typeface="Courier"/>
              </a:rPr>
              <a:t>','</a:t>
            </a:r>
            <a:r>
              <a:rPr>
                <a:latin typeface="Courier"/>
              </a:rPr>
              <a:t>)</a:t>
            </a:r>
            <a:r>
              <a:rPr>
                <a:solidFill>
                  <a:srgbClr val="4070A0"/>
                </a:solidFill>
                <a:latin typeface="Courier"/>
              </a:rPr>
              <a:t>}`</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Context {</a:t>
            </a:r>
            <a:br/>
            <a:r>
              <a:rPr>
                <a:latin typeface="Courier"/>
              </a:rPr>
              <a:t>    </a:t>
            </a:r>
            <a:r>
              <a:rPr b="1">
                <a:solidFill>
                  <a:srgbClr val="007020"/>
                </a:solidFill>
                <a:latin typeface="Courier"/>
              </a:rPr>
              <a:t>private</a:t>
            </a:r>
            <a:r>
              <a:rPr>
                <a:latin typeface="Courier"/>
              </a:rPr>
              <a:t> strategy</a:t>
            </a:r>
            <a:r>
              <a:rPr>
                <a:solidFill>
                  <a:srgbClr val="666666"/>
                </a:solidFill>
                <a:latin typeface="Courier"/>
              </a:rPr>
              <a:t>:</a:t>
            </a:r>
            <a:r>
              <a:rPr>
                <a:latin typeface="Courier"/>
              </a:rPr>
              <a:t> Strategy</a:t>
            </a:r>
            <a:r>
              <a:rPr>
                <a:solidFill>
                  <a:srgbClr val="666666"/>
                </a:solidFill>
                <a:latin typeface="Courier"/>
              </a:rPr>
              <a:t>;</a:t>
            </a:r>
            <a:br/>
            <a:br/>
            <a:r>
              <a:rPr>
                <a:latin typeface="Courier"/>
              </a:rPr>
              <a:t>    </a:t>
            </a:r>
            <a:r>
              <a:rPr b="1">
                <a:solidFill>
                  <a:srgbClr val="007020"/>
                </a:solidFill>
                <a:latin typeface="Courier"/>
              </a:rPr>
              <a:t>constructor</a:t>
            </a:r>
            <a:r>
              <a:rPr>
                <a:latin typeface="Courier"/>
              </a:rPr>
              <a:t>(strategy</a:t>
            </a:r>
            <a:r>
              <a:rPr>
                <a:solidFill>
                  <a:srgbClr val="666666"/>
                </a:solidFill>
                <a:latin typeface="Courier"/>
              </a:rPr>
              <a:t>:</a:t>
            </a:r>
            <a:r>
              <a:rPr>
                <a:latin typeface="Courier"/>
              </a:rPr>
              <a:t> Strategy)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strategy</a:t>
            </a:r>
            <a:r>
              <a:rPr>
                <a:latin typeface="Courier"/>
              </a:rPr>
              <a:t> </a:t>
            </a:r>
            <a:r>
              <a:rPr>
                <a:solidFill>
                  <a:srgbClr val="666666"/>
                </a:solidFill>
                <a:latin typeface="Courier"/>
              </a:rPr>
              <a:t>=</a:t>
            </a:r>
            <a:r>
              <a:rPr>
                <a:latin typeface="Courier"/>
              </a:rPr>
              <a:t> strategy</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setStrategy</a:t>
            </a:r>
            <a:r>
              <a:rPr>
                <a:latin typeface="Courier"/>
              </a:rPr>
              <a:t>(strategy</a:t>
            </a:r>
            <a:r>
              <a:rPr>
                <a:solidFill>
                  <a:srgbClr val="666666"/>
                </a:solidFill>
                <a:latin typeface="Courier"/>
              </a:rPr>
              <a:t>:</a:t>
            </a:r>
            <a:r>
              <a:rPr>
                <a:latin typeface="Courier"/>
              </a:rPr>
              <a:t> Strategy)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strategy</a:t>
            </a:r>
            <a:r>
              <a:rPr>
                <a:latin typeface="Courier"/>
              </a:rPr>
              <a:t> </a:t>
            </a:r>
            <a:r>
              <a:rPr>
                <a:solidFill>
                  <a:srgbClr val="666666"/>
                </a:solidFill>
                <a:latin typeface="Courier"/>
              </a:rPr>
              <a:t>=</a:t>
            </a:r>
            <a:r>
              <a:rPr>
                <a:latin typeface="Courier"/>
              </a:rPr>
              <a:t> strategy</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doSomeBusinessLogic</a:t>
            </a:r>
            <a:r>
              <a:rPr>
                <a:latin typeface="Courier"/>
              </a:rPr>
              <a:t>(data</a:t>
            </a:r>
            <a:r>
              <a:rPr>
                <a:solidFill>
                  <a:srgbClr val="666666"/>
                </a:solidFill>
                <a:latin typeface="Courier"/>
              </a:rPr>
              <a:t>:</a:t>
            </a:r>
            <a:r>
              <a:rPr>
                <a:latin typeface="Courier"/>
              </a:rPr>
              <a:t> </a:t>
            </a:r>
            <a:r>
              <a:rPr>
                <a:solidFill>
                  <a:srgbClr val="902000"/>
                </a:solidFill>
                <a:latin typeface="Courier"/>
              </a:rPr>
              <a:t>string</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`Context: Sorting data using the strategy (not sure how it'll do it)`</a:t>
            </a:r>
            <a:r>
              <a:rPr>
                <a:latin typeface="Courier"/>
              </a:rPr>
              <a:t>)</a:t>
            </a:r>
            <a:r>
              <a:rPr>
                <a:solidFill>
                  <a:srgbClr val="666666"/>
                </a:solidFill>
                <a:latin typeface="Courier"/>
              </a:rPr>
              <a:t>;</a:t>
            </a:r>
            <a:br/>
            <a:r>
              <a:rPr>
                <a:latin typeface="Courier"/>
              </a:rPr>
              <a:t>        </a:t>
            </a:r>
            <a:r>
              <a:rPr b="1">
                <a:solidFill>
                  <a:srgbClr val="007020"/>
                </a:solidFill>
                <a:latin typeface="Courier"/>
              </a:rPr>
              <a:t>const</a:t>
            </a:r>
            <a:r>
              <a:rPr>
                <a:latin typeface="Courier"/>
              </a:rPr>
              <a:t> result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strategy</a:t>
            </a:r>
            <a:r>
              <a:rPr>
                <a:solidFill>
                  <a:srgbClr val="666666"/>
                </a:solidFill>
                <a:latin typeface="Courier"/>
              </a:rPr>
              <a:t>.</a:t>
            </a:r>
            <a:r>
              <a:rPr>
                <a:solidFill>
                  <a:srgbClr val="06287E"/>
                </a:solidFill>
                <a:latin typeface="Courier"/>
              </a:rPr>
              <a:t>execute</a:t>
            </a:r>
            <a:r>
              <a:rPr>
                <a:latin typeface="Courier"/>
              </a:rPr>
              <a:t>(data)</a:t>
            </a:r>
            <a:r>
              <a:rPr>
                <a:solidFill>
                  <a:srgbClr val="666666"/>
                </a:solidFill>
                <a:latin typeface="Courier"/>
              </a:rPr>
              <a:t>;</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(result)</a:t>
            </a:r>
            <a:r>
              <a:rPr>
                <a:solidFill>
                  <a:srgbClr val="666666"/>
                </a:solidFill>
                <a:latin typeface="Courier"/>
              </a:rPr>
              <a:t>;</a:t>
            </a:r>
            <a:br/>
            <a:r>
              <a:rPr>
                <a:latin typeface="Courier"/>
              </a:rPr>
              <a:t>    }</a:t>
            </a:r>
            <a:br/>
            <a:r>
              <a:rPr>
                <a:latin typeface="Courie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Comando (Command)</a:t>
            </a:r>
          </a:p>
          <a:p>
            <a:pPr lvl="0" indent="0" marL="0">
              <a:buNone/>
            </a:pPr>
            <a:r>
              <a:rPr/>
              <a:t>Encapsula una solicitud como un objeto, lo que permite parametrizar clientes con diferentes solicitudes, encolar o registrar solicitudes, y soportar operaciones que se pueden deshacer. Es útil cuando se necesita encapsular una solicitud como un objeto, permitiendo parametrizar clientes con diferentes solicitudes, encolar o registrar solicitudes, y soportar operaciones que se pueden deshacer.</a:t>
            </a:r>
          </a:p>
          <a:p>
            <a:pPr lvl="0" indent="0">
              <a:buNone/>
            </a:pPr>
            <a:r>
              <a:rPr b="1">
                <a:solidFill>
                  <a:srgbClr val="007020"/>
                </a:solidFill>
                <a:latin typeface="Courier"/>
              </a:rPr>
              <a:t>interface</a:t>
            </a:r>
            <a:r>
              <a:rPr>
                <a:latin typeface="Courier"/>
              </a:rPr>
              <a:t> Command {</a:t>
            </a:r>
            <a:br/>
            <a:r>
              <a:rPr>
                <a:latin typeface="Courier"/>
              </a:rPr>
              <a:t>    </a:t>
            </a:r>
            <a:r>
              <a:rPr>
                <a:solidFill>
                  <a:srgbClr val="06287E"/>
                </a:solidFill>
                <a:latin typeface="Courier"/>
              </a:rPr>
              <a:t>execute</a:t>
            </a:r>
            <a:r>
              <a:rPr>
                <a:latin typeface="Courier"/>
              </a:rPr>
              <a:t>()</a:t>
            </a:r>
            <a:r>
              <a:rPr>
                <a:solidFill>
                  <a:srgbClr val="666666"/>
                </a:solidFill>
                <a:latin typeface="Courier"/>
              </a:rPr>
              <a:t>:</a:t>
            </a:r>
            <a:r>
              <a:rPr>
                <a:latin typeface="Courier"/>
              </a:rPr>
              <a:t> </a:t>
            </a:r>
            <a:r>
              <a:rPr>
                <a:solidFill>
                  <a:srgbClr val="902000"/>
                </a:solidFill>
                <a:latin typeface="Courier"/>
              </a:rPr>
              <a:t>void</a:t>
            </a:r>
            <a:r>
              <a:rPr>
                <a:solidFill>
                  <a:srgbClr val="666666"/>
                </a:solidFill>
                <a:latin typeface="Courier"/>
              </a:rPr>
              <a:t>;</a:t>
            </a:r>
            <a:br/>
            <a:r>
              <a:rPr>
                <a:latin typeface="Courier"/>
              </a:rPr>
              <a:t>}</a:t>
            </a:r>
            <a:br/>
            <a:br/>
            <a:r>
              <a:rPr b="1">
                <a:solidFill>
                  <a:srgbClr val="007020"/>
                </a:solidFill>
                <a:latin typeface="Courier"/>
              </a:rPr>
              <a:t>class</a:t>
            </a:r>
            <a:r>
              <a:rPr>
                <a:latin typeface="Courier"/>
              </a:rPr>
              <a:t> SimpleCommand </a:t>
            </a:r>
            <a:r>
              <a:rPr b="1">
                <a:solidFill>
                  <a:srgbClr val="007020"/>
                </a:solidFill>
                <a:latin typeface="Courier"/>
              </a:rPr>
              <a:t>implements</a:t>
            </a:r>
            <a:r>
              <a:rPr>
                <a:latin typeface="Courier"/>
              </a:rPr>
              <a:t> Command {</a:t>
            </a:r>
            <a:br/>
            <a:r>
              <a:rPr>
                <a:latin typeface="Courier"/>
              </a:rPr>
              <a:t>    </a:t>
            </a:r>
            <a:r>
              <a:rPr b="1">
                <a:solidFill>
                  <a:srgbClr val="007020"/>
                </a:solidFill>
                <a:latin typeface="Courier"/>
              </a:rPr>
              <a:t>private</a:t>
            </a:r>
            <a:r>
              <a:rPr>
                <a:latin typeface="Courier"/>
              </a:rPr>
              <a:t> payload</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br/>
            <a:r>
              <a:rPr>
                <a:latin typeface="Courier"/>
              </a:rPr>
              <a:t>    </a:t>
            </a:r>
            <a:r>
              <a:rPr b="1">
                <a:solidFill>
                  <a:srgbClr val="007020"/>
                </a:solidFill>
                <a:latin typeface="Courier"/>
              </a:rPr>
              <a:t>constructor</a:t>
            </a:r>
            <a:r>
              <a:rPr>
                <a:latin typeface="Courier"/>
              </a:rPr>
              <a:t>(payload</a:t>
            </a:r>
            <a:r>
              <a:rPr>
                <a:solidFill>
                  <a:srgbClr val="666666"/>
                </a:solidFill>
                <a:latin typeface="Courier"/>
              </a:rPr>
              <a:t>:</a:t>
            </a:r>
            <a:r>
              <a:rPr>
                <a:latin typeface="Courier"/>
              </a:rPr>
              <a:t> </a:t>
            </a:r>
            <a:r>
              <a:rPr>
                <a:solidFill>
                  <a:srgbClr val="902000"/>
                </a:solidFill>
                <a:latin typeface="Courier"/>
              </a:rPr>
              <a:t>string</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payload</a:t>
            </a:r>
            <a:r>
              <a:rPr>
                <a:latin typeface="Courier"/>
              </a:rPr>
              <a:t> </a:t>
            </a:r>
            <a:r>
              <a:rPr>
                <a:solidFill>
                  <a:srgbClr val="666666"/>
                </a:solidFill>
                <a:latin typeface="Courier"/>
              </a:rPr>
              <a:t>=</a:t>
            </a:r>
            <a:r>
              <a:rPr>
                <a:latin typeface="Courier"/>
              </a:rPr>
              <a:t> payload</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execute</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`SimpleCommand: See, I can do simple things like printing (${</a:t>
            </a:r>
            <a:r>
              <a:rPr b="1">
                <a:solidFill>
                  <a:srgbClr val="007020"/>
                </a:solidFill>
                <a:latin typeface="Courier"/>
              </a:rPr>
              <a:t>this</a:t>
            </a:r>
            <a:r>
              <a:rPr>
                <a:solidFill>
                  <a:srgbClr val="666666"/>
                </a:solidFill>
                <a:latin typeface="Courier"/>
              </a:rPr>
              <a:t>.</a:t>
            </a:r>
            <a:r>
              <a:rPr>
                <a:solidFill>
                  <a:srgbClr val="7D9029"/>
                </a:solidFill>
                <a:latin typeface="Courier"/>
              </a:rPr>
              <a:t>payload</a:t>
            </a:r>
            <a:r>
              <a:rPr>
                <a:solidFill>
                  <a:srgbClr val="4070A0"/>
                </a:solidFill>
                <a:latin typeface="Courier"/>
              </a:rPr>
              <a:t>})`</a:t>
            </a:r>
            <a:r>
              <a:rPr>
                <a:latin typeface="Courier"/>
              </a:rPr>
              <a:t>)</a:t>
            </a:r>
            <a:r>
              <a:rPr>
                <a:solidFill>
                  <a:srgbClr val="666666"/>
                </a:solidFill>
                <a:latin typeface="Courier"/>
              </a:rPr>
              <a:t>;</a:t>
            </a:r>
            <a:br/>
            <a:r>
              <a:rPr>
                <a:latin typeface="Courier"/>
              </a:rPr>
              <a:t>    }</a:t>
            </a:r>
            <a:br/>
            <a:r>
              <a:rPr>
                <a:latin typeface="Courier"/>
              </a:rPr>
              <a:t>}</a:t>
            </a:r>
            <a:br/>
            <a:br/>
            <a:r>
              <a:rPr b="1">
                <a:solidFill>
                  <a:srgbClr val="007020"/>
                </a:solidFill>
                <a:latin typeface="Courier"/>
              </a:rPr>
              <a:t>class</a:t>
            </a:r>
            <a:r>
              <a:rPr>
                <a:latin typeface="Courier"/>
              </a:rPr>
              <a:t> Invoker {</a:t>
            </a:r>
            <a:br/>
            <a:r>
              <a:rPr>
                <a:latin typeface="Courier"/>
              </a:rPr>
              <a:t>    </a:t>
            </a:r>
            <a:r>
              <a:rPr b="1">
                <a:solidFill>
                  <a:srgbClr val="007020"/>
                </a:solidFill>
                <a:latin typeface="Courier"/>
              </a:rPr>
              <a:t>private</a:t>
            </a:r>
            <a:r>
              <a:rPr>
                <a:latin typeface="Courier"/>
              </a:rPr>
              <a:t> onStart</a:t>
            </a:r>
            <a:r>
              <a:rPr>
                <a:solidFill>
                  <a:srgbClr val="666666"/>
                </a:solidFill>
                <a:latin typeface="Courier"/>
              </a:rPr>
              <a:t>:</a:t>
            </a:r>
            <a:r>
              <a:rPr>
                <a:latin typeface="Courier"/>
              </a:rPr>
              <a:t> Command</a:t>
            </a:r>
            <a:r>
              <a:rPr>
                <a:solidFill>
                  <a:srgbClr val="666666"/>
                </a:solidFill>
                <a:latin typeface="Courier"/>
              </a:rPr>
              <a:t>;</a:t>
            </a:r>
            <a:br/>
            <a:r>
              <a:rPr>
                <a:latin typeface="Courier"/>
              </a:rPr>
              <a:t>    </a:t>
            </a:r>
            <a:r>
              <a:rPr b="1">
                <a:solidFill>
                  <a:srgbClr val="007020"/>
                </a:solidFill>
                <a:latin typeface="Courier"/>
              </a:rPr>
              <a:t>private</a:t>
            </a:r>
            <a:r>
              <a:rPr>
                <a:latin typeface="Courier"/>
              </a:rPr>
              <a:t> onFinish</a:t>
            </a:r>
            <a:r>
              <a:rPr>
                <a:solidFill>
                  <a:srgbClr val="666666"/>
                </a:solidFill>
                <a:latin typeface="Courier"/>
              </a:rPr>
              <a:t>:</a:t>
            </a:r>
            <a:r>
              <a:rPr>
                <a:latin typeface="Courier"/>
              </a:rPr>
              <a:t> Command</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setOnStart</a:t>
            </a:r>
            <a:r>
              <a:rPr>
                <a:latin typeface="Courier"/>
              </a:rPr>
              <a:t>(command</a:t>
            </a:r>
            <a:r>
              <a:rPr>
                <a:solidFill>
                  <a:srgbClr val="666666"/>
                </a:solidFill>
                <a:latin typeface="Courier"/>
              </a:rPr>
              <a:t>:</a:t>
            </a:r>
            <a:r>
              <a:rPr>
                <a:latin typeface="Courier"/>
              </a:rPr>
              <a:t> Command)</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onStart</a:t>
            </a:r>
            <a:r>
              <a:rPr>
                <a:latin typeface="Courier"/>
              </a:rPr>
              <a:t> </a:t>
            </a:r>
            <a:r>
              <a:rPr>
                <a:solidFill>
                  <a:srgbClr val="666666"/>
                </a:solidFill>
                <a:latin typeface="Courier"/>
              </a:rPr>
              <a:t>=</a:t>
            </a:r>
            <a:r>
              <a:rPr>
                <a:latin typeface="Courier"/>
              </a:rPr>
              <a:t> command</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setOnFinish</a:t>
            </a:r>
            <a:r>
              <a:rPr>
                <a:latin typeface="Courier"/>
              </a:rPr>
              <a:t>(command</a:t>
            </a:r>
            <a:r>
              <a:rPr>
                <a:solidFill>
                  <a:srgbClr val="666666"/>
                </a:solidFill>
                <a:latin typeface="Courier"/>
              </a:rPr>
              <a:t>:</a:t>
            </a:r>
            <a:r>
              <a:rPr>
                <a:latin typeface="Courier"/>
              </a:rPr>
              <a:t> Command)</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onFinish</a:t>
            </a:r>
            <a:r>
              <a:rPr>
                <a:latin typeface="Courier"/>
              </a:rPr>
              <a:t> </a:t>
            </a:r>
            <a:r>
              <a:rPr>
                <a:solidFill>
                  <a:srgbClr val="666666"/>
                </a:solidFill>
                <a:latin typeface="Courier"/>
              </a:rPr>
              <a:t>=</a:t>
            </a:r>
            <a:r>
              <a:rPr>
                <a:latin typeface="Courier"/>
              </a:rPr>
              <a:t> command</a:t>
            </a:r>
            <a:r>
              <a:rPr>
                <a:solidFill>
                  <a:srgbClr val="666666"/>
                </a:solidFill>
                <a:latin typeface="Courier"/>
              </a:rPr>
              <a:t>;</a:t>
            </a:r>
            <a:br/>
            <a:r>
              <a:rPr>
                <a:latin typeface="Courier"/>
              </a:rPr>
              <a:t>    }</a:t>
            </a:r>
            <a:br/>
            <a:br/>
            <a:r>
              <a:rPr>
                <a:latin typeface="Courier"/>
              </a:rPr>
              <a:t>    </a:t>
            </a:r>
            <a:r>
              <a:rPr b="1">
                <a:solidFill>
                  <a:srgbClr val="007020"/>
                </a:solidFill>
                <a:latin typeface="Courier"/>
              </a:rPr>
              <a:t>public</a:t>
            </a:r>
            <a:r>
              <a:rPr>
                <a:latin typeface="Courier"/>
              </a:rPr>
              <a:t> </a:t>
            </a:r>
            <a:r>
              <a:rPr>
                <a:solidFill>
                  <a:srgbClr val="06287E"/>
                </a:solidFill>
                <a:latin typeface="Courier"/>
              </a:rPr>
              <a:t>doSomethingImportant</a:t>
            </a:r>
            <a:r>
              <a:rPr>
                <a:latin typeface="Courier"/>
              </a:rPr>
              <a:t>()</a:t>
            </a:r>
            <a:r>
              <a:rPr>
                <a:solidFill>
                  <a:srgbClr val="666666"/>
                </a:solidFill>
                <a:latin typeface="Courier"/>
              </a:rPr>
              <a:t>:</a:t>
            </a:r>
            <a:r>
              <a:rPr>
                <a:latin typeface="Courier"/>
              </a:rPr>
              <a:t> </a:t>
            </a:r>
            <a:r>
              <a:rPr>
                <a:solidFill>
                  <a:srgbClr val="902000"/>
                </a:solidFill>
                <a:latin typeface="Courier"/>
              </a:rPr>
              <a:t>void</a:t>
            </a:r>
            <a:r>
              <a:rPr>
                <a:latin typeface="Courier"/>
              </a:rPr>
              <a:t> {</a:t>
            </a: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'Invoker: Does anybody want something done before I begin?'</a:t>
            </a:r>
            <a:r>
              <a:rPr>
                <a:latin typeface="Courier"/>
              </a:rPr>
              <a:t>)</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isCommand</a:t>
            </a:r>
            <a:r>
              <a:rPr>
                <a:latin typeface="Courier"/>
              </a:rPr>
              <a:t>(</a:t>
            </a:r>
            <a:r>
              <a:rPr b="1">
                <a:solidFill>
                  <a:srgbClr val="007020"/>
                </a:solidFill>
                <a:latin typeface="Courier"/>
              </a:rPr>
              <a:t>this</a:t>
            </a:r>
            <a:r>
              <a:rPr>
                <a:solidFill>
                  <a:srgbClr val="666666"/>
                </a:solidFill>
                <a:latin typeface="Courier"/>
              </a:rPr>
              <a:t>.</a:t>
            </a:r>
            <a:r>
              <a:rPr>
                <a:solidFill>
                  <a:srgbClr val="7D9029"/>
                </a:solidFill>
                <a:latin typeface="Courier"/>
              </a:rPr>
              <a:t>onStart</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onStart</a:t>
            </a:r>
            <a:r>
              <a:rPr>
                <a:solidFill>
                  <a:srgbClr val="666666"/>
                </a:solidFill>
                <a:latin typeface="Courier"/>
              </a:rPr>
              <a:t>.</a:t>
            </a:r>
            <a:r>
              <a:rPr>
                <a:solidFill>
                  <a:srgbClr val="06287E"/>
                </a:solidFill>
                <a:latin typeface="Courier"/>
              </a:rPr>
              <a:t>execute</a:t>
            </a:r>
            <a:r>
              <a:rPr>
                <a:latin typeface="Courier"/>
              </a:rPr>
              <a:t>()</a:t>
            </a:r>
            <a:r>
              <a:rPr>
                <a:solidFill>
                  <a:srgbClr val="666666"/>
                </a:solidFill>
                <a:latin typeface="Courier"/>
              </a:rPr>
              <a:t>;</a:t>
            </a:r>
            <a:br/>
            <a:r>
              <a:rPr>
                <a:latin typeface="Courier"/>
              </a:rPr>
              <a:t>        }</a:t>
            </a:r>
            <a:b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'Invoker: ...doing something really important...'</a:t>
            </a:r>
            <a:r>
              <a:rPr>
                <a:latin typeface="Courier"/>
              </a:rPr>
              <a:t>)</a:t>
            </a:r>
            <a:r>
              <a:rPr>
                <a:solidFill>
                  <a:srgbClr val="666666"/>
                </a:solidFill>
                <a:latin typeface="Courier"/>
              </a:rPr>
              <a:t>;</a:t>
            </a:r>
            <a:br/>
            <a:br/>
            <a:r>
              <a:rPr>
                <a:latin typeface="Courier"/>
              </a:rPr>
              <a:t>        </a:t>
            </a: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a:t>
            </a:r>
            <a:r>
              <a:rPr>
                <a:solidFill>
                  <a:srgbClr val="4070A0"/>
                </a:solidFill>
                <a:latin typeface="Courier"/>
              </a:rPr>
              <a:t>'Invoker: Does anybody want something done after I finish?'</a:t>
            </a:r>
            <a:r>
              <a:rPr>
                <a:latin typeface="Courier"/>
              </a:rPr>
              <a:t>)</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isCommand</a:t>
            </a:r>
            <a:r>
              <a:rPr>
                <a:latin typeface="Courier"/>
              </a:rPr>
              <a:t>(</a:t>
            </a:r>
            <a:r>
              <a:rPr b="1">
                <a:solidFill>
                  <a:srgbClr val="007020"/>
                </a:solidFill>
                <a:latin typeface="Courier"/>
              </a:rPr>
              <a:t>this</a:t>
            </a:r>
            <a:r>
              <a:rPr>
                <a:solidFill>
                  <a:srgbClr val="666666"/>
                </a:solidFill>
                <a:latin typeface="Courier"/>
              </a:rPr>
              <a:t>.</a:t>
            </a:r>
            <a:r>
              <a:rPr>
                <a:solidFill>
                  <a:srgbClr val="7D9029"/>
                </a:solidFill>
                <a:latin typeface="Courier"/>
              </a:rPr>
              <a:t>onFinish</a:t>
            </a:r>
            <a:r>
              <a:rPr>
                <a:latin typeface="Courier"/>
              </a:rPr>
              <a:t>)) {</a:t>
            </a:r>
            <a:br/>
            <a:r>
              <a:rPr>
                <a:latin typeface="Courier"/>
              </a:rPr>
              <a:t>            </a:t>
            </a:r>
            <a:r>
              <a:rPr b="1">
                <a:solidFill>
                  <a:srgbClr val="007020"/>
                </a:solidFill>
                <a:latin typeface="Courier"/>
              </a:rPr>
              <a:t>this</a:t>
            </a:r>
            <a:r>
              <a:rPr>
                <a:solidFill>
                  <a:srgbClr val="666666"/>
                </a:solidFill>
                <a:latin typeface="Courier"/>
              </a:rPr>
              <a:t>.</a:t>
            </a:r>
            <a:r>
              <a:rPr>
                <a:solidFill>
                  <a:srgbClr val="7D9029"/>
                </a:solidFill>
                <a:latin typeface="Courier"/>
              </a:rPr>
              <a:t>onFinish</a:t>
            </a:r>
            <a:r>
              <a:rPr>
                <a:solidFill>
                  <a:srgbClr val="666666"/>
                </a:solidFill>
                <a:latin typeface="Courier"/>
              </a:rPr>
              <a:t>.</a:t>
            </a:r>
            <a:r>
              <a:rPr>
                <a:solidFill>
                  <a:srgbClr val="06287E"/>
                </a:solidFill>
                <a:latin typeface="Courier"/>
              </a:rPr>
              <a:t>execute</a:t>
            </a:r>
            <a:r>
              <a:rPr>
                <a:latin typeface="Courier"/>
              </a:rPr>
              <a:t>()</a:t>
            </a:r>
            <a:r>
              <a:rPr>
                <a:solidFill>
                  <a:srgbClr val="666666"/>
                </a:solidFill>
                <a:latin typeface="Courier"/>
              </a:rPr>
              <a:t>;</a:t>
            </a:r>
            <a:br/>
            <a:r>
              <a:rPr>
                <a:latin typeface="Courier"/>
              </a:rPr>
              <a:t>        }</a:t>
            </a:r>
            <a:br/>
            <a:r>
              <a:rPr>
                <a:latin typeface="Courier"/>
              </a:rPr>
              <a:t>    }</a:t>
            </a:r>
            <a:br/>
            <a:br/>
            <a:r>
              <a:rPr>
                <a:latin typeface="Courier"/>
              </a:rPr>
              <a:t>    </a:t>
            </a:r>
            <a:r>
              <a:rPr b="1">
                <a:solidFill>
                  <a:srgbClr val="007020"/>
                </a:solidFill>
                <a:latin typeface="Courier"/>
              </a:rPr>
              <a:t>private</a:t>
            </a:r>
            <a:r>
              <a:rPr>
                <a:latin typeface="Courier"/>
              </a:rPr>
              <a:t> </a:t>
            </a:r>
            <a:r>
              <a:rPr>
                <a:solidFill>
                  <a:srgbClr val="06287E"/>
                </a:solidFill>
                <a:latin typeface="Courier"/>
              </a:rPr>
              <a:t>isCommand</a:t>
            </a:r>
            <a:r>
              <a:rPr>
                <a:latin typeface="Courier"/>
              </a:rPr>
              <a:t>(</a:t>
            </a:r>
            <a:r>
              <a:rPr b="1">
                <a:solidFill>
                  <a:srgbClr val="007020"/>
                </a:solidFill>
                <a:latin typeface="Courier"/>
              </a:rPr>
              <a:t>object</a:t>
            </a:r>
            <a:r>
              <a:rPr>
                <a:latin typeface="Courier"/>
              </a:rPr>
              <a:t>)</a:t>
            </a:r>
            <a:r>
              <a:rPr>
                <a:solidFill>
                  <a:srgbClr val="666666"/>
                </a:solidFill>
                <a:latin typeface="Courier"/>
              </a:rPr>
              <a:t>:</a:t>
            </a:r>
            <a:r>
              <a:rPr>
                <a:latin typeface="Courier"/>
              </a:rPr>
              <a:t> </a:t>
            </a:r>
            <a:r>
              <a:rPr>
                <a:solidFill>
                  <a:srgbClr val="902000"/>
                </a:solidFill>
                <a:latin typeface="Courier"/>
              </a:rPr>
              <a:t>object</a:t>
            </a:r>
            <a:r>
              <a:rPr>
                <a:latin typeface="Courier"/>
              </a:rPr>
              <a:t> </a:t>
            </a:r>
            <a:r>
              <a:rPr b="1">
                <a:solidFill>
                  <a:srgbClr val="007020"/>
                </a:solidFill>
                <a:latin typeface="Courier"/>
              </a:rPr>
              <a:t>is</a:t>
            </a:r>
            <a:r>
              <a:rPr>
                <a:latin typeface="Courier"/>
              </a:rPr>
              <a:t> Command {</a:t>
            </a:r>
            <a:br/>
            <a:r>
              <a:rPr>
                <a:latin typeface="Courier"/>
              </a:rPr>
              <a:t>        </a:t>
            </a:r>
            <a:r>
              <a:rPr b="1">
                <a:solidFill>
                  <a:srgbClr val="007020"/>
                </a:solidFill>
                <a:latin typeface="Courier"/>
              </a:rPr>
              <a:t>return</a:t>
            </a:r>
            <a:r>
              <a:rPr>
                <a:latin typeface="Courier"/>
              </a:rPr>
              <a:t> object</a:t>
            </a:r>
            <a:r>
              <a:rPr>
                <a:solidFill>
                  <a:srgbClr val="666666"/>
                </a:solidFill>
                <a:latin typeface="Courier"/>
              </a:rPr>
              <a:t>.</a:t>
            </a:r>
            <a:r>
              <a:rPr>
                <a:solidFill>
                  <a:srgbClr val="7D9029"/>
                </a:solidFill>
                <a:latin typeface="Courier"/>
              </a:rPr>
              <a:t>execute</a:t>
            </a:r>
            <a:r>
              <a:rPr>
                <a:latin typeface="Courier"/>
              </a:rPr>
              <a:t> </a:t>
            </a:r>
            <a:r>
              <a:rPr>
                <a:solidFill>
                  <a:srgbClr val="666666"/>
                </a:solidFill>
                <a:latin typeface="Courier"/>
              </a:rPr>
              <a:t>!==</a:t>
            </a:r>
            <a:r>
              <a:rPr>
                <a:latin typeface="Courier"/>
              </a:rPr>
              <a:t> </a:t>
            </a:r>
            <a:r>
              <a:rPr b="1">
                <a:solidFill>
                  <a:srgbClr val="007020"/>
                </a:solidFill>
                <a:latin typeface="Courier"/>
              </a:rPr>
              <a:t>undefined</a:t>
            </a:r>
            <a:r>
              <a:rPr>
                <a:solidFill>
                  <a:srgbClr val="666666"/>
                </a:solidFill>
                <a:latin typeface="Courier"/>
              </a:rPr>
              <a:t>;</a:t>
            </a:r>
            <a:br/>
            <a:r>
              <a:rPr>
                <a:latin typeface="Courier"/>
              </a:rPr>
              <a:t>    }</a:t>
            </a:r>
            <a:br/>
            <a:r>
              <a:rPr>
                <a:latin typeface="Courier"/>
              </a:rPr>
              <a: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Conclusión</a:t>
            </a:r>
          </a:p>
        </p:txBody>
      </p:sp>
      <p:sp>
        <p:nvSpPr>
          <p:cNvPr id="3" name="Content Placeholder 2"/>
          <p:cNvSpPr>
            <a:spLocks noGrp="1"/>
          </p:cNvSpPr>
          <p:nvPr>
            <p:ph idx="1"/>
          </p:nvPr>
        </p:nvSpPr>
        <p:spPr/>
        <p:txBody>
          <a:bodyPr/>
          <a:lstStyle/>
          <a:p>
            <a:pPr lvl="0" indent="0" marL="0">
              <a:buNone/>
            </a:pPr>
            <a:r>
              <a:rPr/>
              <a:t>Los patrones de diseño son herramientas poderosas para mejorar la calidad y la mantenibilidad del código en TypeScript. Al entender y aplicar estos patrones, los desarrolladores pueden crear soluciones más robustas y flexibles.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Preguntas y Respuestas</a:t>
            </a:r>
          </a:p>
        </p:txBody>
      </p:sp>
      <p:sp>
        <p:nvSpPr>
          <p:cNvPr id="3" name="Content Placeholder 2"/>
          <p:cNvSpPr>
            <a:spLocks noGrp="1"/>
          </p:cNvSpPr>
          <p:nvPr>
            <p:ph idx="1"/>
          </p:nvPr>
        </p:nvSpPr>
        <p:spPr/>
        <p:txBody>
          <a:bodyPr/>
          <a:lstStyle/>
          <a:p>
            <a:pPr lvl="0" indent="0" marL="0">
              <a:buNone/>
            </a:pPr>
            <a:r>
              <a:rPr/>
              <a:t>¿Tienes alguna pregunta sobre los patrones de diseño en TypeScript?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1970-01-01T00:00:00Z</dcterms:created>
  <dcterms:modified xsi:type="dcterms:W3CDTF">1970-01-01T00:00:00Z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theme">
    <vt:lpwstr>default</vt:lpwstr>
  </property>
</Properties>
</file>